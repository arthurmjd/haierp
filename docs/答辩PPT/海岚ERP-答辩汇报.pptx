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20 秒：各位老师好，我们做的是服装制造企业的 ERP，覆盖从客户报价、销售订单、采购原料、生产工单、领料报工、完工入库、出货签收，一直到应收收款和标准成本结算的整条链路。今天我不按功能菜单讲，按「业务怎么转、系统怎么接、数据怎么对」三条线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这一页给规模和定位。数字都实测过，老师追问可以当场 find/wc 验证。重点强调：九个域不是九个模块菜单，是一条链路上的九个环节。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这是全场最重要的一页，讲 90 秒。五个阶段不是五个模块，是一条链路的五个环节：接单与备料决定「能不能做」，采购与到货决定「料有没有」，生产执行决定「做出来没有」，交付与结算决定「钱回来没有」，核算与闭环决定「下一单报多少」。底部三条纪律是整套系统的设计前提，后面每一页都在讲它们怎么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接单段的两个关键点：一是报价转订单只能一次（防止一张报价下两次单），二是「草稿不计在途」，否则下了单还没到货就会重复采购。收货这一段强调「流水只增不改」，这是后面库存能对账的基础。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生产段的核心是「冻结」：工单建单时把色码计划量、BOM 用量、工序工价抄一份到工单里，之后改主数据不影响在产工单，成本也能复算。报工的三道约束是老师最容易追问的地方，答「服务端三重校验：计划量、前道工序、工资期」。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交付段最容易被问的是「发齐」和「完成」的区别，以及成本口径。强调：应收是发货那一刻自动生成的，不是手工开的票；成本是标准成本快照，改价不影响历史。最后那句「一个事务」是答辩加分点——说明为什么不会出现货发了没记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这一页把三个技术点翻译成业务语言，避免变成技术罗列。如果老师问「并发怎么处理」，就从第 2 条展开：条件更新 + 请求键表 + 行锁。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架构这页不讲细节，讲两件事：一是分层职责（Controller 只做鉴权和参数边界，业务规则全在 Service），二是业务独立成模块（manufacturing），换前端不影响业务。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验证这页的作用是把「我们真的测过」讲清楚。挑库存双向对账讲深一点，因为它能同时证明「流水驱动」的设计和「自检不是走过场」。不足要主动说，别等被问。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 20 秒：项目就到这，三条不足我们也清楚。老师想先看哪一块，我可以直接演示或翻代码。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600"/>
            <a:ext cx="12192000" cy="3073400"/>
          </a:xfrm>
          <a:prstGeom prst="rect">
            <a:avLst/>
          </a:prstGeom>
          <a:solidFill>
            <a:srgbClr val="F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75000"/>
            <a:ext cx="12192000" cy="381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939800"/>
            <a:ext cx="660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E7BD6"/>
                </a:solidFill>
                <a:latin typeface="微软雅黑"/>
                <a:ea typeface="微软雅黑"/>
              </a:rPr>
              <a:t>课程答辩 · 实训项目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70000"/>
            <a:ext cx="7874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200" b="1">
                <a:solidFill>
                  <a:srgbClr val="0E2E5C"/>
                </a:solidFill>
                <a:latin typeface="微软雅黑"/>
                <a:ea typeface="微软雅黑"/>
              </a:rPr>
              <a:t>海岚 ERP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133600"/>
            <a:ext cx="838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1B4F9C"/>
                </a:solidFill>
                <a:latin typeface="微软雅黑"/>
                <a:ea typeface="微软雅黑"/>
              </a:rPr>
              <a:t>服装制造企业资源计划 · 从报价到成本的一条完整链路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590800"/>
            <a:ext cx="8382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B7F"/>
                </a:solidFill>
                <a:latin typeface="微软雅黑"/>
                <a:ea typeface="微软雅黑"/>
              </a:rPr>
              <a:t>Vue 3 + TypeScript  /  Java 21 + Spring Boot 3.5  /  MySQL 8 + Redis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0" y="1168400"/>
            <a:ext cx="11430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2E7BD6"/>
                </a:solidFill>
                <a:latin typeface="微软雅黑"/>
                <a:ea typeface="微软雅黑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0" y="1651000"/>
            <a:ext cx="1143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7F"/>
                </a:solidFill>
                <a:latin typeface="微软雅黑"/>
                <a:ea typeface="微软雅黑"/>
              </a:rPr>
              <a:t>步业务主流程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8000" y="1168400"/>
            <a:ext cx="11430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2E7BD6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8000" y="1651000"/>
            <a:ext cx="1143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7F"/>
                </a:solidFill>
                <a:latin typeface="微软雅黑"/>
                <a:ea typeface="微软雅黑"/>
              </a:rPr>
              <a:t>个岗位角色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0" y="1168400"/>
            <a:ext cx="11430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2E7BD6"/>
                </a:solidFill>
                <a:latin typeface="微软雅黑"/>
                <a:ea typeface="微软雅黑"/>
              </a:rPr>
              <a:t>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0" y="1651000"/>
            <a:ext cx="1143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7F"/>
                </a:solidFill>
                <a:latin typeface="微软雅黑"/>
                <a:ea typeface="微软雅黑"/>
              </a:rPr>
              <a:t>项数据自检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810000"/>
            <a:ext cx="762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5B6B7F"/>
                </a:solidFill>
                <a:latin typeface="微软雅黑"/>
                <a:ea typeface="微软雅黑"/>
              </a:rPr>
              <a:t>答辩人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4038600"/>
            <a:ext cx="254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A2433"/>
                </a:solidFill>
                <a:latin typeface="微软雅黑"/>
                <a:ea typeface="微软雅黑"/>
              </a:rPr>
              <a:t>（填写姓名）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6000" y="3810000"/>
            <a:ext cx="762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5B6B7F"/>
                </a:solidFill>
                <a:latin typeface="微软雅黑"/>
                <a:ea typeface="微软雅黑"/>
              </a:rPr>
              <a:t>团队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6000" y="4038600"/>
            <a:ext cx="254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A2433"/>
                </a:solidFill>
                <a:latin typeface="微软雅黑"/>
                <a:ea typeface="微软雅黑"/>
              </a:rPr>
              <a:t>7 人 · 前后端分离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0" y="3810000"/>
            <a:ext cx="762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5B6B7F"/>
                </a:solidFill>
                <a:latin typeface="微软雅黑"/>
                <a:ea typeface="微软雅黑"/>
              </a:rPr>
              <a:t>日期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0" y="4038600"/>
            <a:ext cx="254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A2433"/>
                </a:solidFill>
                <a:latin typeface="微软雅黑"/>
                <a:ea typeface="微软雅黑"/>
              </a:rPr>
              <a:t>2026 年 10 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2000" y="4762500"/>
            <a:ext cx="76200" cy="762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0600" y="4673600"/>
            <a:ext cx="1041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A2433"/>
                </a:solidFill>
                <a:latin typeface="微软雅黑"/>
                <a:ea typeface="微软雅黑"/>
              </a:rPr>
              <a:t>一条订单跑通 19 步：报价 → 订单 → 采购 → 生产 → 出货 → 应收 → 成本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2000" y="5194300"/>
            <a:ext cx="76200" cy="762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0600" y="5105400"/>
            <a:ext cx="1041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A2433"/>
                </a:solidFill>
                <a:latin typeface="微软雅黑"/>
                <a:ea typeface="微软雅黑"/>
              </a:rPr>
              <a:t>单据只走动作、库存只认流水、金额只由服务端计算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2000" y="5626100"/>
            <a:ext cx="76200" cy="762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0600" y="5537200"/>
            <a:ext cx="1041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A2433"/>
                </a:solidFill>
                <a:latin typeface="微软雅黑"/>
                <a:ea typeface="微软雅黑"/>
              </a:rPr>
              <a:t>60 项 SQL 自检保证「账能对上」，8 个岗位按钮级权限可现场对比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762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E7BD6"/>
                </a:solidFill>
                <a:latin typeface="微软雅黑"/>
                <a:ea typeface="微软雅黑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016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0E2E5C"/>
                </a:solidFill>
                <a:latin typeface="微软雅黑"/>
                <a:ea typeface="微软雅黑"/>
              </a:rPr>
              <a:t>项目定位：一条链、九个域、三件事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066800"/>
            <a:ext cx="558800" cy="381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8400" y="1084580"/>
            <a:ext cx="10414000" cy="10160"/>
          </a:xfrm>
          <a:prstGeom prst="rect">
            <a:avLst/>
          </a:prstGeom>
          <a:solidFill>
            <a:srgbClr val="D8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02400"/>
            <a:ext cx="5334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B7F"/>
                </a:solidFill>
                <a:latin typeface="微软雅黑"/>
                <a:ea typeface="微软雅黑"/>
              </a:rPr>
              <a:t>海岚 ERP · 服装制造企业资源计划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02400"/>
            <a:ext cx="381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E7BD6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19200"/>
            <a:ext cx="5461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1B4F9C"/>
                </a:solidFill>
                <a:latin typeface="微软雅黑"/>
                <a:ea typeface="微软雅黑"/>
              </a:rPr>
              <a:t>我们做的不是通用 ERP，而是服装代工厂的「订单到成本」那一段。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574800"/>
            <a:ext cx="5461000" cy="116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50" b="0">
                <a:solidFill>
                  <a:srgbClr val="1A2433"/>
                </a:solidFill>
                <a:latin typeface="微软雅黑"/>
                <a:ea typeface="微软雅黑"/>
              </a:rPr>
              <a:t>上游接客户报价与订单，中间管物料、工单与库存，下游接出货、应收与成本。九个业务域：主数据、销售、采购、生产、库存、出货、成本、人事、财务。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870200"/>
            <a:ext cx="254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E7BD6"/>
                </a:solidFill>
                <a:latin typeface="微软雅黑"/>
                <a:ea typeface="微软雅黑"/>
              </a:rPr>
              <a:t>解决三个具体问题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" y="3175000"/>
            <a:ext cx="5461000" cy="635000"/>
          </a:xfrm>
          <a:prstGeom prst="roundRect">
            <a:avLst>
              <a:gd name="adj" fmla="val 14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3276600"/>
            <a:ext cx="5080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2E5C"/>
                </a:solidFill>
                <a:latin typeface="微软雅黑"/>
                <a:ea typeface="微软雅黑"/>
              </a:rPr>
              <a:t>订单与物料脱节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505200"/>
            <a:ext cx="508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B7F"/>
                </a:solidFill>
                <a:latin typeface="微软雅黑"/>
                <a:ea typeface="微软雅黑"/>
              </a:rPr>
              <a:t>接了单不知道缺多少料 → 净缺料视图按 BOM 算到物料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600" y="3937000"/>
            <a:ext cx="5461000" cy="635000"/>
          </a:xfrm>
          <a:prstGeom prst="roundRect">
            <a:avLst>
              <a:gd name="adj" fmla="val 14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4038600"/>
            <a:ext cx="5080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2E5C"/>
                </a:solidFill>
                <a:latin typeface="微软雅黑"/>
                <a:ea typeface="微软雅黑"/>
              </a:rPr>
              <a:t>库存账实不符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4267200"/>
            <a:ext cx="508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B7F"/>
                </a:solidFill>
                <a:latin typeface="微软雅黑"/>
                <a:ea typeface="微软雅黑"/>
              </a:rPr>
              <a:t>有台账没流水 → 全部出入库记流水，结存由流水累加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600" y="4699000"/>
            <a:ext cx="5461000" cy="635000"/>
          </a:xfrm>
          <a:prstGeom prst="roundRect">
            <a:avLst>
              <a:gd name="adj" fmla="val 14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4800600"/>
            <a:ext cx="5080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2E5C"/>
                </a:solidFill>
                <a:latin typeface="微软雅黑"/>
                <a:ea typeface="微软雅黑"/>
              </a:rPr>
              <a:t>成本算不清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5029200"/>
            <a:ext cx="508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B7F"/>
                </a:solidFill>
                <a:latin typeface="微软雅黑"/>
                <a:ea typeface="微软雅黑"/>
              </a:rPr>
              <a:t>报价靠拍脑袋 → 标准成本试算并冻结，可被下一轮报价引用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4000" y="1219200"/>
            <a:ext cx="254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E7BD6"/>
                </a:solidFill>
                <a:latin typeface="微软雅黑"/>
                <a:ea typeface="微软雅黑"/>
              </a:rPr>
              <a:t>一组实数（可现场验证）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04000" y="1549400"/>
            <a:ext cx="1625600" cy="101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9D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4000" y="1727200"/>
            <a:ext cx="1625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B4F9C"/>
                </a:solidFill>
                <a:latin typeface="微软雅黑"/>
                <a:ea typeface="微软雅黑"/>
              </a:rPr>
              <a:t>325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4000" y="2184400"/>
            <a:ext cx="1625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7F"/>
                </a:solidFill>
                <a:latin typeface="微软雅黑"/>
                <a:ea typeface="微软雅黑"/>
              </a:rPr>
              <a:t>后端 Java 文件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82000" y="1549400"/>
            <a:ext cx="1625600" cy="101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9D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0" y="1727200"/>
            <a:ext cx="1625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B4F9C"/>
                </a:solidFill>
                <a:latin typeface="微软雅黑"/>
                <a:ea typeface="微软雅黑"/>
              </a:rPr>
              <a:t>43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0" y="2184400"/>
            <a:ext cx="1625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7F"/>
                </a:solidFill>
                <a:latin typeface="微软雅黑"/>
                <a:ea typeface="微软雅黑"/>
              </a:rPr>
              <a:t>REST 控制器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60000" y="1549400"/>
            <a:ext cx="1625600" cy="101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9D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60000" y="1727200"/>
            <a:ext cx="1625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B4F9C"/>
                </a:solidFill>
                <a:latin typeface="微软雅黑"/>
                <a:ea typeface="微软雅黑"/>
              </a:rPr>
              <a:t>260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60000" y="2184400"/>
            <a:ext cx="1625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7F"/>
                </a:solidFill>
                <a:latin typeface="微软雅黑"/>
                <a:ea typeface="微软雅黑"/>
              </a:rPr>
              <a:t>方法级接口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04000" y="2717800"/>
            <a:ext cx="1625600" cy="101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9D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4000" y="2895600"/>
            <a:ext cx="1625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B4F9C"/>
                </a:solidFill>
                <a:latin typeface="微软雅黑"/>
                <a:ea typeface="微软雅黑"/>
              </a:rPr>
              <a:t>228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4000" y="3352800"/>
            <a:ext cx="1625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7F"/>
                </a:solidFill>
                <a:latin typeface="微软雅黑"/>
                <a:ea typeface="微软雅黑"/>
              </a:rPr>
              <a:t>生效权限注解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82000" y="2717800"/>
            <a:ext cx="1625600" cy="101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9D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2000" y="2895600"/>
            <a:ext cx="1625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B4F9C"/>
                </a:solidFill>
                <a:latin typeface="微软雅黑"/>
                <a:ea typeface="微软雅黑"/>
              </a:rPr>
              <a:t>66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0" y="3352800"/>
            <a:ext cx="1625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7F"/>
                </a:solidFill>
                <a:latin typeface="微软雅黑"/>
                <a:ea typeface="微软雅黑"/>
              </a:rPr>
              <a:t>数据库表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60000" y="2717800"/>
            <a:ext cx="1625600" cy="101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9D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60000" y="2895600"/>
            <a:ext cx="1625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B4F9C"/>
                </a:solidFill>
                <a:latin typeface="微软雅黑"/>
                <a:ea typeface="微软雅黑"/>
              </a:rPr>
              <a:t>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60000" y="3352800"/>
            <a:ext cx="1625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7F"/>
                </a:solidFill>
                <a:latin typeface="微软雅黑"/>
                <a:ea typeface="微软雅黑"/>
              </a:rPr>
              <a:t>SQL 自检项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4000" y="3886200"/>
            <a:ext cx="50800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5B6B7F"/>
                </a:solidFill>
                <a:latin typeface="微软雅黑"/>
                <a:ea typeface="微软雅黑"/>
              </a:rPr>
              <a:t>另有 9 个视图、186 项菜单（ERP 132 项：1 目录 + 32 页面 + 99 按钮）、8 个岗位、7 个部门与 7 个岗位定义。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9600" y="5537200"/>
            <a:ext cx="10972800" cy="635000"/>
          </a:xfrm>
          <a:prstGeom prst="roundRect">
            <a:avLst>
              <a:gd name="adj" fmla="val 12000"/>
            </a:avLst>
          </a:prstGeom>
          <a:solidFill>
            <a:srgbClr val="F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600" y="5537200"/>
            <a:ext cx="38100" cy="6350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8200" y="5689600"/>
            <a:ext cx="10541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>
                <a:solidFill>
                  <a:srgbClr val="0E2E5C"/>
                </a:solidFill>
                <a:latin typeface="微软雅黑"/>
                <a:ea typeface="微软雅黑"/>
              </a:rPr>
              <a:t>一句话：我们只做服装代工这一段，但这一段的状态机、动作幂等与库存账实一致，是按能上线的标准做的。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762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E7BD6"/>
                </a:solidFill>
                <a:latin typeface="微软雅黑"/>
                <a:ea typeface="微软雅黑"/>
              </a:rPr>
              <a:t>CORE · BUSINESS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016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0E2E5C"/>
                </a:solidFill>
                <a:latin typeface="微软雅黑"/>
                <a:ea typeface="微软雅黑"/>
              </a:rPr>
              <a:t>业务主流程：一条订单跑完 19 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066800"/>
            <a:ext cx="558800" cy="381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8400" y="1084580"/>
            <a:ext cx="10414000" cy="10160"/>
          </a:xfrm>
          <a:prstGeom prst="rect">
            <a:avLst/>
          </a:prstGeom>
          <a:solidFill>
            <a:srgbClr val="D8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02400"/>
            <a:ext cx="5334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B7F"/>
                </a:solidFill>
                <a:latin typeface="微软雅黑"/>
                <a:ea typeface="微软雅黑"/>
              </a:rPr>
              <a:t>海岚 ERP · 服装制造企业资源计划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02400"/>
            <a:ext cx="381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E7BD6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1371600"/>
            <a:ext cx="2032000" cy="299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9600" y="1371600"/>
            <a:ext cx="2032000" cy="508000"/>
          </a:xfrm>
          <a:prstGeom prst="roundRect">
            <a:avLst>
              <a:gd name="adj" fmla="val 8000"/>
            </a:avLst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01  接单与备料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" y="1676400"/>
            <a:ext cx="2016760" cy="2032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300" y="2044700"/>
            <a:ext cx="50800" cy="508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6300" y="1981200"/>
            <a:ext cx="1651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报价单成交 → 转订单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300" y="2603500"/>
            <a:ext cx="50800" cy="508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6300" y="2540000"/>
            <a:ext cx="1651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订单确认冻结色码/价/期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300" y="3162300"/>
            <a:ext cx="50800" cy="508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6300" y="3098800"/>
            <a:ext cx="1651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净缺料 = 需求 − 现存 − 在途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300" y="3810000"/>
            <a:ext cx="1752600" cy="10160"/>
          </a:xfrm>
          <a:prstGeom prst="rect">
            <a:avLst/>
          </a:prstGeom>
          <a:solidFill>
            <a:srgbClr val="D8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300" y="3937000"/>
            <a:ext cx="17526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1">
                <a:solidFill>
                  <a:srgbClr val="2E7BD6"/>
                </a:solidFill>
                <a:latin typeface="微软雅黑"/>
                <a:ea typeface="微软雅黑"/>
              </a:rPr>
              <a:t>产出：订单、缺料清单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692400" y="2794000"/>
            <a:ext cx="152400" cy="165100"/>
          </a:xfrm>
          <a:prstGeom prst="rightArrow">
            <a:avLst/>
          </a:prstGeom>
          <a:solidFill>
            <a:srgbClr val="B9D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95600" y="1371600"/>
            <a:ext cx="2032000" cy="299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895600" y="1371600"/>
            <a:ext cx="2032000" cy="508000"/>
          </a:xfrm>
          <a:prstGeom prst="roundRect">
            <a:avLst>
              <a:gd name="adj" fmla="val 8000"/>
            </a:avLst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02  采购与到货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03220" y="1676400"/>
            <a:ext cx="2016760" cy="2032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35300" y="2044700"/>
            <a:ext cx="50800" cy="508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62300" y="1981200"/>
            <a:ext cx="1651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采购单 0→1→2→3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35300" y="2603500"/>
            <a:ext cx="50800" cy="508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62300" y="2540000"/>
            <a:ext cx="1651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下单即计入在途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35300" y="3162300"/>
            <a:ext cx="50800" cy="508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62300" y="3098800"/>
            <a:ext cx="1651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分批收货写入库流水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35300" y="3810000"/>
            <a:ext cx="1752600" cy="10160"/>
          </a:xfrm>
          <a:prstGeom prst="rect">
            <a:avLst/>
          </a:prstGeom>
          <a:solidFill>
            <a:srgbClr val="D8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35300" y="3937000"/>
            <a:ext cx="17526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1">
                <a:solidFill>
                  <a:srgbClr val="2E7BD6"/>
                </a:solidFill>
                <a:latin typeface="微软雅黑"/>
                <a:ea typeface="微软雅黑"/>
              </a:rPr>
              <a:t>产出：入库流水、应付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978400" y="2794000"/>
            <a:ext cx="152400" cy="165100"/>
          </a:xfrm>
          <a:prstGeom prst="rightArrow">
            <a:avLst/>
          </a:prstGeom>
          <a:solidFill>
            <a:srgbClr val="B9D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181600" y="1371600"/>
            <a:ext cx="2032000" cy="299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181600" y="1371600"/>
            <a:ext cx="2032000" cy="508000"/>
          </a:xfrm>
          <a:prstGeom prst="roundRect">
            <a:avLst>
              <a:gd name="adj" fmla="val 8000"/>
            </a:avLst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03  生产执行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89220" y="1676400"/>
            <a:ext cx="2016760" cy="2032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21300" y="2044700"/>
            <a:ext cx="50800" cy="508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48300" y="1981200"/>
            <a:ext cx="1651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按订单款式建工单（冻结）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21300" y="2603500"/>
            <a:ext cx="50800" cy="508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48300" y="2540000"/>
            <a:ext cx="1651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齐套后领料、按工序报工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21300" y="3162300"/>
            <a:ext cx="50800" cy="508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48300" y="3098800"/>
            <a:ext cx="1651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完工按 SKU 入库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21300" y="3810000"/>
            <a:ext cx="1752600" cy="10160"/>
          </a:xfrm>
          <a:prstGeom prst="rect">
            <a:avLst/>
          </a:prstGeom>
          <a:solidFill>
            <a:srgbClr val="D8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21300" y="3937000"/>
            <a:ext cx="17526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1">
                <a:solidFill>
                  <a:srgbClr val="2E7BD6"/>
                </a:solidFill>
                <a:latin typeface="微软雅黑"/>
                <a:ea typeface="微软雅黑"/>
              </a:rPr>
              <a:t>产出：工单、计件、成品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7264400" y="2794000"/>
            <a:ext cx="152400" cy="165100"/>
          </a:xfrm>
          <a:prstGeom prst="rightArrow">
            <a:avLst/>
          </a:prstGeom>
          <a:solidFill>
            <a:srgbClr val="B9D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467600" y="1371600"/>
            <a:ext cx="2032000" cy="299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467600" y="1371600"/>
            <a:ext cx="2032000" cy="508000"/>
          </a:xfrm>
          <a:prstGeom prst="roundRect">
            <a:avLst>
              <a:gd name="adj" fmla="val 8000"/>
            </a:avLst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04  交付与结算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75220" y="1676400"/>
            <a:ext cx="2016760" cy="2032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607300" y="2044700"/>
            <a:ext cx="50800" cy="508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34300" y="1981200"/>
            <a:ext cx="1651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分批发货 → 签收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07300" y="2603500"/>
            <a:ext cx="50800" cy="508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34300" y="2540000"/>
            <a:ext cx="1651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发货即生成应收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07300" y="3162300"/>
            <a:ext cx="50800" cy="508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34300" y="3098800"/>
            <a:ext cx="1651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收款核销、账龄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07300" y="3810000"/>
            <a:ext cx="1752600" cy="10160"/>
          </a:xfrm>
          <a:prstGeom prst="rect">
            <a:avLst/>
          </a:prstGeom>
          <a:solidFill>
            <a:srgbClr val="D8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07300" y="3937000"/>
            <a:ext cx="17526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1">
                <a:solidFill>
                  <a:srgbClr val="2E7BD6"/>
                </a:solidFill>
                <a:latin typeface="微软雅黑"/>
                <a:ea typeface="微软雅黑"/>
              </a:rPr>
              <a:t>产出：出货单、应收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9550400" y="2794000"/>
            <a:ext cx="152400" cy="165100"/>
          </a:xfrm>
          <a:prstGeom prst="rightArrow">
            <a:avLst/>
          </a:prstGeom>
          <a:solidFill>
            <a:srgbClr val="B9D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753600" y="1371600"/>
            <a:ext cx="2032000" cy="299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753600" y="1371600"/>
            <a:ext cx="2032000" cy="508000"/>
          </a:xfrm>
          <a:prstGeom prst="roundRect">
            <a:avLst>
              <a:gd name="adj" fmla="val 8000"/>
            </a:avLst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05  核算与闭环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761220" y="1676400"/>
            <a:ext cx="2016760" cy="2032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893300" y="2044700"/>
            <a:ext cx="50800" cy="508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20300" y="1981200"/>
            <a:ext cx="1651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标准成本试算 → 确认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893300" y="2603500"/>
            <a:ext cx="50800" cy="508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20300" y="2540000"/>
            <a:ext cx="1651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成本快照可复算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893300" y="3162300"/>
            <a:ext cx="50800" cy="508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20300" y="3098800"/>
            <a:ext cx="1651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生成下一轮报价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893300" y="3810000"/>
            <a:ext cx="1752600" cy="10160"/>
          </a:xfrm>
          <a:prstGeom prst="rect">
            <a:avLst/>
          </a:prstGeom>
          <a:solidFill>
            <a:srgbClr val="D8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93300" y="3937000"/>
            <a:ext cx="17526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1">
                <a:solidFill>
                  <a:srgbClr val="2E7BD6"/>
                </a:solidFill>
                <a:latin typeface="微软雅黑"/>
                <a:ea typeface="微软雅黑"/>
              </a:rPr>
              <a:t>产出：结算单、新报价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09600" y="4648200"/>
            <a:ext cx="10972800" cy="685800"/>
          </a:xfrm>
          <a:prstGeom prst="roundRect">
            <a:avLst>
              <a:gd name="adj" fmla="val 10000"/>
            </a:avLst>
          </a:prstGeom>
          <a:solidFill>
            <a:srgbClr val="F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8200" y="4775200"/>
            <a:ext cx="1054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B4F9C"/>
                </a:solidFill>
                <a:latin typeface="微软雅黑"/>
                <a:ea typeface="微软雅黑"/>
              </a:rPr>
              <a:t>贯穿全流程的三条纪律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8200" y="5003800"/>
            <a:ext cx="10541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1A2433"/>
                </a:solidFill>
                <a:latin typeface="微软雅黑"/>
                <a:ea typeface="微软雅黑"/>
              </a:rPr>
              <a:t>① 状态只走动作端点（没有「直接改状态」的接口）   ② 库存只认流水，结存由流水累加   ③ 金额只由服务端算，前端不参与结算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9600" y="5588000"/>
            <a:ext cx="10972800" cy="12700"/>
          </a:xfrm>
          <a:prstGeom prst="rect">
            <a:avLst/>
          </a:prstGeom>
          <a:solidFill>
            <a:srgbClr val="B9D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701800" y="5549900"/>
            <a:ext cx="25400" cy="889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66800" y="5715000"/>
            <a:ext cx="1270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客户下单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96360" y="5549900"/>
            <a:ext cx="25400" cy="889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61360" y="5715000"/>
            <a:ext cx="1270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物料到位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90920" y="5549900"/>
            <a:ext cx="25400" cy="889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455920" y="5715000"/>
            <a:ext cx="1270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成品入库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85480" y="5549900"/>
            <a:ext cx="25400" cy="889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650480" y="5715000"/>
            <a:ext cx="1270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客户签收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480040" y="5549900"/>
            <a:ext cx="25400" cy="889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845040" y="5715000"/>
            <a:ext cx="1270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成本确认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762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E7BD6"/>
                </a:solidFill>
                <a:latin typeface="微软雅黑"/>
                <a:ea typeface="微软雅黑"/>
              </a:rPr>
              <a:t>STAGE 01—02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016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0E2E5C"/>
                </a:solidFill>
                <a:latin typeface="微软雅黑"/>
                <a:ea typeface="微软雅黑"/>
              </a:rPr>
              <a:t>接单与备料：从一张报价单到料进仓库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066800"/>
            <a:ext cx="558800" cy="381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8400" y="1084580"/>
            <a:ext cx="10414000" cy="10160"/>
          </a:xfrm>
          <a:prstGeom prst="rect">
            <a:avLst/>
          </a:prstGeom>
          <a:solidFill>
            <a:srgbClr val="D8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02400"/>
            <a:ext cx="5334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B7F"/>
                </a:solidFill>
                <a:latin typeface="微软雅黑"/>
                <a:ea typeface="微软雅黑"/>
              </a:rPr>
              <a:t>海岚 ERP · 服装制造企业资源计划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02400"/>
            <a:ext cx="381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E7BD6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1371600"/>
            <a:ext cx="1930400" cy="1066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371600"/>
            <a:ext cx="50800" cy="10668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7400" y="1473200"/>
            <a:ext cx="167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2E5C"/>
                </a:solidFill>
                <a:latin typeface="微软雅黑"/>
                <a:ea typeface="微软雅黑"/>
              </a:rPr>
              <a:t>报价单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400" y="1778000"/>
            <a:ext cx="16764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0 待确认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1 已接受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3 已转单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90800" y="1854200"/>
            <a:ext cx="203200" cy="152400"/>
          </a:xfrm>
          <a:prstGeom prst="rightArrow">
            <a:avLst/>
          </a:prstGeom>
          <a:solidFill>
            <a:srgbClr val="B9D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70200" y="1371600"/>
            <a:ext cx="1930400" cy="1066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70200" y="1371600"/>
            <a:ext cx="50800" cy="10668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8000" y="1473200"/>
            <a:ext cx="167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2E5C"/>
                </a:solidFill>
                <a:latin typeface="微软雅黑"/>
                <a:ea typeface="微软雅黑"/>
              </a:rPr>
              <a:t>销售订单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8000" y="1778000"/>
            <a:ext cx="16764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0 草稿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1 已确认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2 生产中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51400" y="1854200"/>
            <a:ext cx="203200" cy="152400"/>
          </a:xfrm>
          <a:prstGeom prst="rightArrow">
            <a:avLst/>
          </a:prstGeom>
          <a:solidFill>
            <a:srgbClr val="B9D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0800" y="1371600"/>
            <a:ext cx="1930400" cy="1066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30800" y="1371600"/>
            <a:ext cx="50800" cy="10668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8600" y="1473200"/>
            <a:ext cx="167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2E5C"/>
                </a:solidFill>
                <a:latin typeface="微软雅黑"/>
                <a:ea typeface="微软雅黑"/>
              </a:rPr>
              <a:t>净缺料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8600" y="1778000"/>
            <a:ext cx="16764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BOM 需求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− 已领 − 现存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− 在途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12000" y="1854200"/>
            <a:ext cx="203200" cy="152400"/>
          </a:xfrm>
          <a:prstGeom prst="rightArrow">
            <a:avLst/>
          </a:prstGeom>
          <a:solidFill>
            <a:srgbClr val="B9D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91400" y="1371600"/>
            <a:ext cx="1930400" cy="1066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91400" y="1371600"/>
            <a:ext cx="50800" cy="10668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69200" y="1473200"/>
            <a:ext cx="167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2E5C"/>
                </a:solidFill>
                <a:latin typeface="微软雅黑"/>
                <a:ea typeface="微软雅黑"/>
              </a:rPr>
              <a:t>采购单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9200" y="1778000"/>
            <a:ext cx="16764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0 草稿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1 已下单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2 部分到货/3 已到货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372600" y="1854200"/>
            <a:ext cx="203200" cy="152400"/>
          </a:xfrm>
          <a:prstGeom prst="rightArrow">
            <a:avLst/>
          </a:prstGeom>
          <a:solidFill>
            <a:srgbClr val="B9D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52000" y="1371600"/>
            <a:ext cx="1930400" cy="1066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52000" y="1371600"/>
            <a:ext cx="50800" cy="10668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29800" y="1473200"/>
            <a:ext cx="167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2E5C"/>
                </a:solidFill>
                <a:latin typeface="微软雅黑"/>
                <a:ea typeface="微软雅黑"/>
              </a:rPr>
              <a:t>收货入库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1778000"/>
            <a:ext cx="16764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写库存流水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结存累加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形成应付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600" y="2743200"/>
            <a:ext cx="10972800" cy="939800"/>
          </a:xfrm>
          <a:prstGeom prst="roundRect">
            <a:avLst>
              <a:gd name="adj" fmla="val 10000"/>
            </a:avLst>
          </a:prstGeom>
          <a:solidFill>
            <a:srgbClr val="F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9600" y="2743200"/>
            <a:ext cx="38100" cy="9398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200" y="2870200"/>
            <a:ext cx="254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B4F9C"/>
                </a:solidFill>
                <a:latin typeface="微软雅黑"/>
                <a:ea typeface="微软雅黑"/>
              </a:rPr>
              <a:t>报价只能转一次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124200"/>
            <a:ext cx="10414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1A2433"/>
                </a:solidFill>
                <a:latin typeface="微软雅黑"/>
                <a:ea typeface="微软雅黑"/>
              </a:rPr>
              <a:t>转单靠「条件更新」：只有已接受的报价能改成已转单，并发下只有一个请求成功；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1A2433"/>
                </a:solidFill>
                <a:latin typeface="微软雅黑"/>
                <a:ea typeface="微软雅黑"/>
              </a:rPr>
              <a:t>重复转单返回 2006，整张订单回滚 —— 防止重复生产、重复记账。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600" y="3810000"/>
            <a:ext cx="10972800" cy="939800"/>
          </a:xfrm>
          <a:prstGeom prst="roundRect">
            <a:avLst>
              <a:gd name="adj" fmla="val 10000"/>
            </a:avLst>
          </a:prstGeom>
          <a:solidFill>
            <a:srgbClr val="F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9600" y="3810000"/>
            <a:ext cx="38100" cy="9398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8200" y="3937000"/>
            <a:ext cx="254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B4F9C"/>
                </a:solidFill>
                <a:latin typeface="微软雅黑"/>
                <a:ea typeface="微软雅黑"/>
              </a:rPr>
              <a:t>草稿不计在途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200" y="4191000"/>
            <a:ext cx="10414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1A2433"/>
                </a:solidFill>
                <a:latin typeface="微软雅黑"/>
                <a:ea typeface="微软雅黑"/>
              </a:rPr>
              <a:t>采购单确认（或审批通过）那一刻才计入在途；收货后已收数量不再算在途，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1A2433"/>
                </a:solidFill>
                <a:latin typeface="微软雅黑"/>
                <a:ea typeface="微软雅黑"/>
              </a:rPr>
              <a:t>所以净缺料 = 需求 − 已领 − 现存 − 在途，不会因为「下了单还没到」而重复采购。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9600" y="4876800"/>
            <a:ext cx="10972800" cy="939800"/>
          </a:xfrm>
          <a:prstGeom prst="roundRect">
            <a:avLst>
              <a:gd name="adj" fmla="val 10000"/>
            </a:avLst>
          </a:prstGeom>
          <a:solidFill>
            <a:srgbClr val="F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600" y="4876800"/>
            <a:ext cx="38100" cy="9398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8200" y="5003800"/>
            <a:ext cx="254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B4F9C"/>
                </a:solidFill>
                <a:latin typeface="微软雅黑"/>
                <a:ea typeface="微软雅黑"/>
              </a:rPr>
              <a:t>收货即入账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200" y="5257800"/>
            <a:ext cx="10414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1A2433"/>
                </a:solidFill>
                <a:latin typeface="微软雅黑"/>
                <a:ea typeface="微软雅黑"/>
              </a:rPr>
              <a:t>收货写库存流水（只增不改）、结存同步累加、按收货金额挂应付；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1A2433"/>
                </a:solidFill>
                <a:latin typeface="微软雅黑"/>
                <a:ea typeface="微软雅黑"/>
              </a:rPr>
              <a:t>若下单时已付款，收货不再重复挂应付 —— 避免同一批料两次计账。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762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E7BD6"/>
                </a:solidFill>
                <a:latin typeface="微软雅黑"/>
                <a:ea typeface="微软雅黑"/>
              </a:rPr>
              <a:t>STAGE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016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0E2E5C"/>
                </a:solidFill>
                <a:latin typeface="微软雅黑"/>
                <a:ea typeface="微软雅黑"/>
              </a:rPr>
              <a:t>生产执行：工单冻结，领料只认现存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066800"/>
            <a:ext cx="558800" cy="381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8400" y="1084580"/>
            <a:ext cx="10414000" cy="10160"/>
          </a:xfrm>
          <a:prstGeom prst="rect">
            <a:avLst/>
          </a:prstGeom>
          <a:solidFill>
            <a:srgbClr val="D8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02400"/>
            <a:ext cx="5334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B7F"/>
                </a:solidFill>
                <a:latin typeface="微软雅黑"/>
                <a:ea typeface="微软雅黑"/>
              </a:rPr>
              <a:t>海岚 ERP · 服装制造企业资源计划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02400"/>
            <a:ext cx="381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E7BD6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1371600"/>
            <a:ext cx="2540000" cy="787400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7400" y="1498600"/>
            <a:ext cx="152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2E5C"/>
                </a:solidFill>
                <a:latin typeface="微软雅黑"/>
                <a:ea typeface="微软雅黑"/>
              </a:rPr>
              <a:t>建工单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400" y="1778000"/>
            <a:ext cx="2286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冻结色码/ BOM / 工价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778000" y="2184400"/>
            <a:ext cx="152400" cy="152400"/>
          </a:xfrm>
          <a:prstGeom prst="downArrow">
            <a:avLst/>
          </a:prstGeom>
          <a:solidFill>
            <a:srgbClr val="B9D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9600" y="2362200"/>
            <a:ext cx="2540000" cy="787400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7400" y="2489200"/>
            <a:ext cx="152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2E5C"/>
                </a:solidFill>
                <a:latin typeface="微软雅黑"/>
                <a:ea typeface="微软雅黑"/>
              </a:rPr>
              <a:t>领料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400" y="2768600"/>
            <a:ext cx="2286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扣库存 + 领料流水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778000" y="3175000"/>
            <a:ext cx="152400" cy="152400"/>
          </a:xfrm>
          <a:prstGeom prst="downArrow">
            <a:avLst/>
          </a:prstGeom>
          <a:solidFill>
            <a:srgbClr val="B9D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9600" y="3352800"/>
            <a:ext cx="2540000" cy="787400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7400" y="3479800"/>
            <a:ext cx="152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2E5C"/>
                </a:solidFill>
                <a:latin typeface="微软雅黑"/>
                <a:ea typeface="微软雅黑"/>
              </a:rPr>
              <a:t>报工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400" y="3759200"/>
            <a:ext cx="2286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工序 × SKU 记合格/不良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1778000" y="4165600"/>
            <a:ext cx="152400" cy="152400"/>
          </a:xfrm>
          <a:prstGeom prst="downArrow">
            <a:avLst/>
          </a:prstGeom>
          <a:solidFill>
            <a:srgbClr val="B9D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9600" y="4343400"/>
            <a:ext cx="2540000" cy="787400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7400" y="4470400"/>
            <a:ext cx="152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2E5C"/>
                </a:solidFill>
                <a:latin typeface="微软雅黑"/>
                <a:ea typeface="微软雅黑"/>
              </a:rPr>
              <a:t>完工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7400" y="4749800"/>
            <a:ext cx="2286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按 SKU 入成品库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1270000"/>
            <a:ext cx="508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E7BD6"/>
                </a:solidFill>
                <a:latin typeface="微软雅黑"/>
                <a:ea typeface="微软雅黑"/>
              </a:rPr>
              <a:t>报工的四道约束（都在服务端校验）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1549400"/>
            <a:ext cx="7874000" cy="66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0" y="1549400"/>
            <a:ext cx="38100" cy="6604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60800" y="1651000"/>
            <a:ext cx="2159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E2E5C"/>
                </a:solidFill>
                <a:latin typeface="微软雅黑"/>
                <a:ea typeface="微软雅黑"/>
              </a:rPr>
              <a:t>不超过计划量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60800" y="1879600"/>
            <a:ext cx="7493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>
                <a:solidFill>
                  <a:srgbClr val="5B6B7F"/>
                </a:solidFill>
                <a:latin typeface="微软雅黑"/>
                <a:ea typeface="微软雅黑"/>
              </a:rPr>
              <a:t>同一 SKU 同一工序，累计合格数 ≤ 工单冻结的计划量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0" y="2311400"/>
            <a:ext cx="7874000" cy="66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0" y="2311400"/>
            <a:ext cx="38100" cy="6604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60800" y="2413000"/>
            <a:ext cx="2159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E2E5C"/>
                </a:solidFill>
                <a:latin typeface="微软雅黑"/>
                <a:ea typeface="微软雅黑"/>
              </a:rPr>
              <a:t>不超过前道工序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60800" y="2641600"/>
            <a:ext cx="7493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>
                <a:solidFill>
                  <a:srgbClr val="5B6B7F"/>
                </a:solidFill>
                <a:latin typeface="微软雅黑"/>
                <a:ea typeface="微软雅黑"/>
              </a:rPr>
              <a:t>本工序累计合格数 ≤ 前一道工序的累计合格数（不能凭空多出来）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0" y="3073400"/>
            <a:ext cx="7874000" cy="66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073400"/>
            <a:ext cx="38100" cy="6604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60800" y="3175000"/>
            <a:ext cx="2159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E2E5C"/>
                </a:solidFill>
                <a:latin typeface="微软雅黑"/>
                <a:ea typeface="微软雅黑"/>
              </a:rPr>
              <a:t>不超工资期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60800" y="3403600"/>
            <a:ext cx="7493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>
                <a:solidFill>
                  <a:srgbClr val="5B6B7F"/>
                </a:solidFill>
                <a:latin typeface="微软雅黑"/>
                <a:ea typeface="微软雅黑"/>
              </a:rPr>
              <a:t>报工日期所属月份工资单已确认 → 拒绝补录，要先作废工资单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0" y="3835400"/>
            <a:ext cx="7874000" cy="66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0" y="3835400"/>
            <a:ext cx="38100" cy="6604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60800" y="3937000"/>
            <a:ext cx="2159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E2E5C"/>
                </a:solidFill>
                <a:latin typeface="微软雅黑"/>
                <a:ea typeface="微软雅黑"/>
              </a:rPr>
              <a:t>外发不计件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60800" y="4165600"/>
            <a:ext cx="7493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>
                <a:solidFill>
                  <a:srgbClr val="5B6B7F"/>
                </a:solidFill>
                <a:latin typeface="微软雅黑"/>
                <a:ea typeface="微软雅黑"/>
              </a:rPr>
              <a:t>委外工序只记成本，不生成员工计件；内部报工才按「合格数 × 工价快照」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9600" y="5080000"/>
            <a:ext cx="10972800" cy="1092200"/>
          </a:xfrm>
          <a:prstGeom prst="roundRect">
            <a:avLst>
              <a:gd name="adj" fmla="val 10000"/>
            </a:avLst>
          </a:prstGeom>
          <a:solidFill>
            <a:srgbClr val="F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8200" y="5232400"/>
            <a:ext cx="10541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B4F9C"/>
                </a:solidFill>
                <a:latin typeface="微软雅黑"/>
                <a:ea typeface="微软雅黑"/>
              </a:rPr>
              <a:t>两个容易被忽略的边界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5511800"/>
            <a:ext cx="105410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· 领料只认现存库存：采购在途的量只参与缺料计算，不能拿来领料，否则账上会出现负数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· 完工入库不超过末道工序累计合格数：没做完的工序不能提前入库，防止「工单说完工、库存却没有」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762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E7BD6"/>
                </a:solidFill>
                <a:latin typeface="微软雅黑"/>
                <a:ea typeface="微软雅黑"/>
              </a:rPr>
              <a:t>STAGE 04—05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016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0E2E5C"/>
                </a:solidFill>
                <a:latin typeface="微软雅黑"/>
                <a:ea typeface="微软雅黑"/>
              </a:rPr>
              <a:t>交付与结算：发货即开票，成本是快照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066800"/>
            <a:ext cx="558800" cy="381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8400" y="1084580"/>
            <a:ext cx="10414000" cy="10160"/>
          </a:xfrm>
          <a:prstGeom prst="rect">
            <a:avLst/>
          </a:prstGeom>
          <a:solidFill>
            <a:srgbClr val="D8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02400"/>
            <a:ext cx="5334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B7F"/>
                </a:solidFill>
                <a:latin typeface="微软雅黑"/>
                <a:ea typeface="微软雅黑"/>
              </a:rPr>
              <a:t>海岚 ERP · 服装制造企业资源计划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02400"/>
            <a:ext cx="381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E7BD6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1371600"/>
            <a:ext cx="2032000" cy="1168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7400" y="1498600"/>
            <a:ext cx="172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2E5C"/>
                </a:solidFill>
                <a:latin typeface="微软雅黑"/>
                <a:ea typeface="微软雅黑"/>
              </a:rPr>
              <a:t>出货单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400" y="1803400"/>
            <a:ext cx="17272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按未发量选批次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0 待发货 → 1 已发货 → 2 已签收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79700" y="1905000"/>
            <a:ext cx="177800" cy="152400"/>
          </a:xfrm>
          <a:prstGeom prst="rightArrow">
            <a:avLst/>
          </a:prstGeom>
          <a:solidFill>
            <a:srgbClr val="B9D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21000" y="1371600"/>
            <a:ext cx="2032000" cy="1168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8800" y="1498600"/>
            <a:ext cx="172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2E5C"/>
                </a:solidFill>
                <a:latin typeface="微软雅黑"/>
                <a:ea typeface="微软雅黑"/>
              </a:rPr>
              <a:t>应收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8800" y="1803400"/>
            <a:ext cx="17272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金额 = 出货量 × 订单单价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到期日 = 发货日 + 客户账期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991100" y="1905000"/>
            <a:ext cx="177800" cy="152400"/>
          </a:xfrm>
          <a:prstGeom prst="rightArrow">
            <a:avLst/>
          </a:prstGeom>
          <a:solidFill>
            <a:srgbClr val="B9D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32400" y="1371600"/>
            <a:ext cx="2032000" cy="1168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10200" y="1498600"/>
            <a:ext cx="172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2E5C"/>
                </a:solidFill>
                <a:latin typeface="微软雅黑"/>
                <a:ea typeface="微软雅黑"/>
              </a:rPr>
              <a:t>收款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0200" y="1803400"/>
            <a:ext cx="17272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登记 + 确认 → 写资金流水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应收余额递减，账龄分档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302500" y="1905000"/>
            <a:ext cx="177800" cy="152400"/>
          </a:xfrm>
          <a:prstGeom prst="rightArrow">
            <a:avLst/>
          </a:prstGeom>
          <a:solidFill>
            <a:srgbClr val="B9D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43800" y="1371600"/>
            <a:ext cx="2032000" cy="1168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1600" y="1498600"/>
            <a:ext cx="172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2E5C"/>
                </a:solidFill>
                <a:latin typeface="微软雅黑"/>
                <a:ea typeface="微软雅黑"/>
              </a:rPr>
              <a:t>标准成本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1600" y="1803400"/>
            <a:ext cx="17272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材料 + 人工 + 费用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确认后冻结，不可重算覆盖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613900" y="1905000"/>
            <a:ext cx="177800" cy="152400"/>
          </a:xfrm>
          <a:prstGeom prst="rightArrow">
            <a:avLst/>
          </a:prstGeom>
          <a:solidFill>
            <a:srgbClr val="B9D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55200" y="1371600"/>
            <a:ext cx="2032000" cy="1168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33000" y="1498600"/>
            <a:ext cx="172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2E5C"/>
                </a:solidFill>
                <a:latin typeface="微软雅黑"/>
                <a:ea typeface="微软雅黑"/>
              </a:rPr>
              <a:t>新报价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33000" y="1803400"/>
            <a:ext cx="17272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引用已确认成本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形成下一轮报价依据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9600" y="2844800"/>
            <a:ext cx="3556000" cy="1219200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800" y="2997200"/>
            <a:ext cx="317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B4F9C"/>
                </a:solidFill>
                <a:latin typeface="微软雅黑"/>
                <a:ea typeface="微软雅黑"/>
              </a:rPr>
              <a:t>发齐 ≠ 完成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800" y="3302000"/>
            <a:ext cx="317500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发齐看累计发货量是否达到订购量；完成看是否所有出货单都签收。两个状态、两个动作。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8000" y="2844800"/>
            <a:ext cx="3556000" cy="1219200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1200" y="2997200"/>
            <a:ext cx="317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B4F9C"/>
                </a:solidFill>
                <a:latin typeface="微软雅黑"/>
                <a:ea typeface="微软雅黑"/>
              </a:rPr>
              <a:t>分批发货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1200" y="3302000"/>
            <a:ext cx="317500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按 SKU + 批次记录，同一订单可以多次发货；未发齐不进入准交率分母，逾期未发齐单独列。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26400" y="2844800"/>
            <a:ext cx="3556000" cy="1219200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2997200"/>
            <a:ext cx="317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B4F9C"/>
                </a:solidFill>
                <a:latin typeface="微软雅黑"/>
                <a:ea typeface="微软雅黑"/>
              </a:rPr>
              <a:t>标准成本 ≠ 实际成本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302000"/>
            <a:ext cx="317500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用冻结 BOM × 物料参考价 + 计划合格量 × 冻结工价算；退货不冲回已确认成本。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600" y="4318000"/>
            <a:ext cx="10972800" cy="965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9D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8200" y="4445000"/>
            <a:ext cx="381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B4F9C"/>
                </a:solidFill>
                <a:latin typeface="微软雅黑"/>
                <a:ea typeface="微软雅黑"/>
              </a:rPr>
              <a:t>资金闭环（财务页 8 个标签）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8200" y="4749800"/>
            <a:ext cx="1219200" cy="355600"/>
          </a:xfrm>
          <a:prstGeom prst="roundRect">
            <a:avLst>
              <a:gd name="adj" fmla="val 25000"/>
            </a:avLst>
          </a:prstGeom>
          <a:solidFill>
            <a:srgbClr val="F4F8FE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4F9C"/>
                </a:solidFill>
                <a:latin typeface="微软雅黑"/>
                <a:ea typeface="微软雅黑"/>
              </a:rPr>
              <a:t>总览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59000" y="4749800"/>
            <a:ext cx="1219200" cy="355600"/>
          </a:xfrm>
          <a:prstGeom prst="roundRect">
            <a:avLst>
              <a:gd name="adj" fmla="val 25000"/>
            </a:avLst>
          </a:prstGeom>
          <a:solidFill>
            <a:srgbClr val="F4F8FE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4F9C"/>
                </a:solidFill>
                <a:latin typeface="微软雅黑"/>
                <a:ea typeface="微软雅黑"/>
              </a:rPr>
              <a:t>账户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79800" y="4749800"/>
            <a:ext cx="1219200" cy="355600"/>
          </a:xfrm>
          <a:prstGeom prst="roundRect">
            <a:avLst>
              <a:gd name="adj" fmla="val 25000"/>
            </a:avLst>
          </a:prstGeom>
          <a:solidFill>
            <a:srgbClr val="F4F8FE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4F9C"/>
                </a:solidFill>
                <a:latin typeface="微软雅黑"/>
                <a:ea typeface="微软雅黑"/>
              </a:rPr>
              <a:t>资金流水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00600" y="4749800"/>
            <a:ext cx="1219200" cy="355600"/>
          </a:xfrm>
          <a:prstGeom prst="roundRect">
            <a:avLst>
              <a:gd name="adj" fmla="val 25000"/>
            </a:avLst>
          </a:prstGeom>
          <a:solidFill>
            <a:srgbClr val="F4F8FE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4F9C"/>
                </a:solidFill>
                <a:latin typeface="微软雅黑"/>
                <a:ea typeface="微软雅黑"/>
              </a:rPr>
              <a:t>月度现金流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1400" y="4749800"/>
            <a:ext cx="1219200" cy="355600"/>
          </a:xfrm>
          <a:prstGeom prst="roundRect">
            <a:avLst>
              <a:gd name="adj" fmla="val 25000"/>
            </a:avLst>
          </a:prstGeom>
          <a:solidFill>
            <a:srgbClr val="F4F8FE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4F9C"/>
                </a:solidFill>
                <a:latin typeface="微软雅黑"/>
                <a:ea typeface="微软雅黑"/>
              </a:rPr>
              <a:t>应收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42200" y="4749800"/>
            <a:ext cx="1219200" cy="355600"/>
          </a:xfrm>
          <a:prstGeom prst="roundRect">
            <a:avLst>
              <a:gd name="adj" fmla="val 25000"/>
            </a:avLst>
          </a:prstGeom>
          <a:solidFill>
            <a:srgbClr val="F4F8FE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4F9C"/>
                </a:solidFill>
                <a:latin typeface="微软雅黑"/>
                <a:ea typeface="微软雅黑"/>
              </a:rPr>
              <a:t>应付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63000" y="4749800"/>
            <a:ext cx="1219200" cy="355600"/>
          </a:xfrm>
          <a:prstGeom prst="roundRect">
            <a:avLst>
              <a:gd name="adj" fmla="val 25000"/>
            </a:avLst>
          </a:prstGeom>
          <a:solidFill>
            <a:srgbClr val="F4F8FE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4F9C"/>
                </a:solidFill>
                <a:latin typeface="微软雅黑"/>
                <a:ea typeface="微软雅黑"/>
              </a:rPr>
              <a:t>账龄汇总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83800" y="4749800"/>
            <a:ext cx="1219200" cy="355600"/>
          </a:xfrm>
          <a:prstGeom prst="roundRect">
            <a:avLst>
              <a:gd name="adj" fmla="val 25000"/>
            </a:avLst>
          </a:prstGeom>
          <a:solidFill>
            <a:srgbClr val="F4F8FE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4F9C"/>
                </a:solidFill>
                <a:latin typeface="微软雅黑"/>
                <a:ea typeface="微软雅黑"/>
              </a:rPr>
              <a:t>收付款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600" y="5486400"/>
            <a:ext cx="109728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发货是一个事务：校验期间 → 校验状态与未发量 → 扣库存 + 写出库流水 → 改出货状态 → 改订单状态 → 生成应收。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任何一步失败全部回滚，所以不会出现「货发了、应收没生成」。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762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E7BD6"/>
                </a:solidFill>
                <a:latin typeface="微软雅黑"/>
                <a:ea typeface="微软雅黑"/>
              </a:rPr>
              <a:t>DESIGN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016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0E2E5C"/>
                </a:solidFill>
                <a:latin typeface="微软雅黑"/>
                <a:ea typeface="微软雅黑"/>
              </a:rPr>
              <a:t>三条贯穿全系统的纪律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066800"/>
            <a:ext cx="558800" cy="381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8400" y="1084580"/>
            <a:ext cx="10414000" cy="10160"/>
          </a:xfrm>
          <a:prstGeom prst="rect">
            <a:avLst/>
          </a:prstGeom>
          <a:solidFill>
            <a:srgbClr val="D8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02400"/>
            <a:ext cx="5334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B7F"/>
                </a:solidFill>
                <a:latin typeface="微软雅黑"/>
                <a:ea typeface="微软雅黑"/>
              </a:rPr>
              <a:t>海岚 ERP · 服装制造企业资源计划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02400"/>
            <a:ext cx="381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E7BD6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1320800"/>
            <a:ext cx="3556000" cy="381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320800"/>
            <a:ext cx="3556000" cy="5842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1447800"/>
            <a:ext cx="508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B9D1F2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473200"/>
            <a:ext cx="2540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状态只走动作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032000"/>
            <a:ext cx="3124200" cy="302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做法：不给「直接改状态」的接口，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每个动作的 SQL 自带前置状态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效果：并发下只有一个请求能改成功，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其余按失败回滚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现场可查：ErpOrderService.confirm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（UPDATE … WHERE status=0）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被追问「能直接改库吗」：能改，但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改库等于绕过动作，自检第 28 项会 FAIL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8000" y="1320800"/>
            <a:ext cx="3556000" cy="381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8000" y="1320800"/>
            <a:ext cx="3556000" cy="5842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6600" y="1447800"/>
            <a:ext cx="508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B9D1F2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0000" y="1473200"/>
            <a:ext cx="2540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动作幂等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6600" y="2032000"/>
            <a:ext cx="3124200" cy="302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做法：请求键 + 参数摘要 + 状态位，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统一落 biz_action_request 表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效果：同键重复提交只入账一次；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同键换参数报 2007；换键正常执行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现场可查：ErpStockService.begin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ErpStockMapper.reserveAction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被追问「键谁生成」：前端每次动作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生成 UUID，网络重试复用同一个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6400" y="1320800"/>
            <a:ext cx="3556000" cy="381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6400" y="1320800"/>
            <a:ext cx="3556000" cy="5842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5000" y="1447800"/>
            <a:ext cx="508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B9D1F2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88400" y="1473200"/>
            <a:ext cx="2540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账实可对账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5000" y="2032000"/>
            <a:ext cx="3124200" cy="302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做法：结存由流水累加，按「物料 + 批次 +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仓库」四元组双向比对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效果：幽灵出入库跑一次自检就暴露，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不用人工翻账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现场可查：sql/self_check.sql 第 3 项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（库存双向对账）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被追问「怎么发现的」：演示库曾有 5 张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已签收出货单没有出库流水，就是对出来的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0" y="5384800"/>
            <a:ext cx="10972800" cy="736600"/>
          </a:xfrm>
          <a:prstGeom prst="roundRect">
            <a:avLst>
              <a:gd name="adj" fmla="val 10000"/>
            </a:avLst>
          </a:prstGeom>
          <a:solidFill>
            <a:srgbClr val="F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200" y="5511800"/>
            <a:ext cx="10541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B4F9C"/>
                </a:solidFill>
                <a:latin typeface="微软雅黑"/>
                <a:ea typeface="微软雅黑"/>
              </a:rPr>
              <a:t>为什么先讲这三条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5740400"/>
            <a:ext cx="10541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因为业务链路会变（加节点、改规则），但这三条是地基：状态不乱、动作不重、账能对上。后面的技术架构与权限设计都是为它们服务的。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762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E7BD6"/>
                </a:solidFill>
                <a:latin typeface="微软雅黑"/>
                <a:ea typeface="微软雅黑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016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0E2E5C"/>
                </a:solidFill>
                <a:latin typeface="微软雅黑"/>
                <a:ea typeface="微软雅黑"/>
              </a:rPr>
              <a:t>技术架构：分层清楚，业务独立成模块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066800"/>
            <a:ext cx="558800" cy="381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8400" y="1084580"/>
            <a:ext cx="10414000" cy="10160"/>
          </a:xfrm>
          <a:prstGeom prst="rect">
            <a:avLst/>
          </a:prstGeom>
          <a:solidFill>
            <a:srgbClr val="D8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02400"/>
            <a:ext cx="5334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B7F"/>
                </a:solidFill>
                <a:latin typeface="微软雅黑"/>
                <a:ea typeface="微软雅黑"/>
              </a:rPr>
              <a:t>海岚 ERP · 服装制造企业资源计划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02400"/>
            <a:ext cx="381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E7BD6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1320800"/>
            <a:ext cx="711200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320800"/>
            <a:ext cx="787400" cy="10668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701800"/>
            <a:ext cx="7874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前端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473200"/>
            <a:ext cx="5842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E2E5C"/>
                </a:solidFill>
                <a:latin typeface="微软雅黑"/>
                <a:ea typeface="微软雅黑"/>
              </a:rPr>
              <a:t>Vue 3 + TypeScript + Vite + Element 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778000"/>
            <a:ext cx="584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B6B7F"/>
                </a:solidFill>
                <a:latin typeface="微软雅黑"/>
                <a:ea typeface="微软雅黑"/>
              </a:rPr>
              <a:t>28 个页面（10 个手写 + 配置驱动）· 26 条路由 · 按钮级权限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064000" y="2413000"/>
            <a:ext cx="177800" cy="177800"/>
          </a:xfrm>
          <a:prstGeom prst="downArrow">
            <a:avLst/>
          </a:prstGeom>
          <a:solidFill>
            <a:srgbClr val="B9D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9600" y="2540000"/>
            <a:ext cx="711200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2540000"/>
            <a:ext cx="787400" cy="10668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2921000"/>
            <a:ext cx="7874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后端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692400"/>
            <a:ext cx="5842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E2E5C"/>
                </a:solidFill>
                <a:latin typeface="微软雅黑"/>
                <a:ea typeface="微软雅黑"/>
              </a:rPr>
              <a:t>Java 21 + Spring Boot 3.5 + MyBatis + Spring Security/JWT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2997200"/>
            <a:ext cx="584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B6B7F"/>
                </a:solidFill>
                <a:latin typeface="微软雅黑"/>
                <a:ea typeface="微软雅黑"/>
              </a:rPr>
              <a:t>43 个控制器 · 260 个接口 · 228 处权限注解 · 51 个事务方法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4064000" y="3632200"/>
            <a:ext cx="177800" cy="177800"/>
          </a:xfrm>
          <a:prstGeom prst="downArrow">
            <a:avLst/>
          </a:prstGeom>
          <a:solidFill>
            <a:srgbClr val="B9D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9600" y="3759200"/>
            <a:ext cx="711200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600" y="3759200"/>
            <a:ext cx="787400" cy="1066800"/>
          </a:xfrm>
          <a:prstGeom prst="rect">
            <a:avLst/>
          </a:prstGeom>
          <a:solidFill>
            <a:srgbClr val="0E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" y="4140200"/>
            <a:ext cx="7874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数据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911600"/>
            <a:ext cx="5842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E2E5C"/>
                </a:solidFill>
                <a:latin typeface="微软雅黑"/>
                <a:ea typeface="微软雅黑"/>
              </a:rPr>
              <a:t>MySQL 8（66 张表 / 9 个视图）+ Redis（登录态、AI 限流）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216400"/>
            <a:ext cx="584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B6B7F"/>
                </a:solidFill>
                <a:latin typeface="微软雅黑"/>
                <a:ea typeface="微软雅黑"/>
              </a:rPr>
              <a:t>库存流水只增不改 · 结存由流水累加 · 视图统一口径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7200" y="1320800"/>
            <a:ext cx="381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E7BD6"/>
                </a:solidFill>
                <a:latin typeface="微软雅黑"/>
                <a:ea typeface="微软雅黑"/>
              </a:rPr>
              <a:t>后端 6 个 Maven 模块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77200" y="1574800"/>
            <a:ext cx="3505200" cy="482600"/>
          </a:xfrm>
          <a:prstGeom prst="roundRect">
            <a:avLst>
              <a:gd name="adj" fmla="val 14000"/>
            </a:avLst>
          </a:prstGeom>
          <a:solidFill>
            <a:srgbClr val="F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638300"/>
            <a:ext cx="3175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B4F9C"/>
                </a:solidFill>
                <a:latin typeface="微软雅黑"/>
                <a:ea typeface="微软雅黑"/>
              </a:rPr>
              <a:t>ruoyi-common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828800"/>
            <a:ext cx="3175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80" b="0">
                <a:solidFill>
                  <a:srgbClr val="5B6B7F"/>
                </a:solidFill>
                <a:latin typeface="微软雅黑"/>
                <a:ea typeface="微软雅黑"/>
              </a:rPr>
              <a:t>公共库：统一响应、异常、工具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77200" y="2133600"/>
            <a:ext cx="3505200" cy="482600"/>
          </a:xfrm>
          <a:prstGeom prst="roundRect">
            <a:avLst>
              <a:gd name="adj" fmla="val 14000"/>
            </a:avLst>
          </a:prstGeom>
          <a:solidFill>
            <a:srgbClr val="F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2197100"/>
            <a:ext cx="3175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B4F9C"/>
                </a:solidFill>
                <a:latin typeface="微软雅黑"/>
                <a:ea typeface="微软雅黑"/>
              </a:rPr>
              <a:t>ruoyi-framework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387600"/>
            <a:ext cx="3175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80" b="0">
                <a:solidFill>
                  <a:srgbClr val="5B6B7F"/>
                </a:solidFill>
                <a:latin typeface="微软雅黑"/>
                <a:ea typeface="微软雅黑"/>
              </a:rPr>
              <a:t>安全骨架：JWT、权限 Bean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77200" y="2692400"/>
            <a:ext cx="3505200" cy="482600"/>
          </a:xfrm>
          <a:prstGeom prst="roundRect">
            <a:avLst>
              <a:gd name="adj" fmla="val 14000"/>
            </a:avLst>
          </a:prstGeom>
          <a:solidFill>
            <a:srgbClr val="F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2755900"/>
            <a:ext cx="3175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B4F9C"/>
                </a:solidFill>
                <a:latin typeface="微软雅黑"/>
                <a:ea typeface="微软雅黑"/>
              </a:rPr>
              <a:t>ruoyi-quartz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2946400"/>
            <a:ext cx="3175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80" b="0">
                <a:solidFill>
                  <a:srgbClr val="5B6B7F"/>
                </a:solidFill>
                <a:latin typeface="微软雅黑"/>
                <a:ea typeface="微软雅黑"/>
              </a:rPr>
              <a:t>定时任务（默认关闭）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7200" y="3251200"/>
            <a:ext cx="3505200" cy="482600"/>
          </a:xfrm>
          <a:prstGeom prst="roundRect">
            <a:avLst>
              <a:gd name="adj" fmla="val 14000"/>
            </a:avLst>
          </a:prstGeom>
          <a:solidFill>
            <a:srgbClr val="F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3314700"/>
            <a:ext cx="3175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B4F9C"/>
                </a:solidFill>
                <a:latin typeface="微软雅黑"/>
                <a:ea typeface="微软雅黑"/>
              </a:rPr>
              <a:t>myfactoryai-system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505200"/>
            <a:ext cx="3175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80" b="0">
                <a:solidFill>
                  <a:srgbClr val="5B6B7F"/>
                </a:solidFill>
                <a:latin typeface="微软雅黑"/>
                <a:ea typeface="微软雅黑"/>
              </a:rPr>
              <a:t>用户/角色/菜单/部门 + 单据冻结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77200" y="3810000"/>
            <a:ext cx="3505200" cy="482600"/>
          </a:xfrm>
          <a:prstGeom prst="roundRect">
            <a:avLst>
              <a:gd name="adj" fmla="val 14000"/>
            </a:avLst>
          </a:prstGeom>
          <a:solidFill>
            <a:srgbClr val="F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3873500"/>
            <a:ext cx="3175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B4F9C"/>
                </a:solidFill>
                <a:latin typeface="微软雅黑"/>
                <a:ea typeface="微软雅黑"/>
              </a:rPr>
              <a:t>myfactoryai-manufacturing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064000"/>
            <a:ext cx="3175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80" b="0">
                <a:solidFill>
                  <a:srgbClr val="5B6B7F"/>
                </a:solidFill>
                <a:latin typeface="微软雅黑"/>
                <a:ea typeface="微软雅黑"/>
              </a:rPr>
              <a:t>业务域：service / mapper / domain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77200" y="4368800"/>
            <a:ext cx="3505200" cy="482600"/>
          </a:xfrm>
          <a:prstGeom prst="roundRect">
            <a:avLst>
              <a:gd name="adj" fmla="val 14000"/>
            </a:avLst>
          </a:prstGeom>
          <a:solidFill>
            <a:srgbClr val="F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4432300"/>
            <a:ext cx="3175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B4F9C"/>
                </a:solidFill>
                <a:latin typeface="微软雅黑"/>
                <a:ea typeface="微软雅黑"/>
              </a:rPr>
              <a:t>myfactoryai-admin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622800"/>
            <a:ext cx="3175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80" b="0">
                <a:solidFill>
                  <a:srgbClr val="5B6B7F"/>
                </a:solidFill>
                <a:latin typeface="微软雅黑"/>
                <a:ea typeface="微软雅黑"/>
              </a:rPr>
              <a:t>启动类 + 控制器 + AI 配置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600" y="4978400"/>
            <a:ext cx="109728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B4F9C"/>
                </a:solidFill>
                <a:latin typeface="微软雅黑"/>
                <a:ea typeface="微软雅黑"/>
              </a:rPr>
              <a:t>一次请求怎么走（以订单列表为例）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9600" y="5257800"/>
            <a:ext cx="1422400" cy="381000"/>
          </a:xfrm>
          <a:prstGeom prst="roundRect">
            <a:avLst>
              <a:gd name="adj" fmla="val 18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0E2E5C"/>
                </a:solidFill>
                <a:latin typeface="微软雅黑"/>
                <a:ea typeface="微软雅黑"/>
              </a:rPr>
              <a:t>浏览器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2044700" y="5359400"/>
            <a:ext cx="114300" cy="177800"/>
          </a:xfrm>
          <a:prstGeom prst="rightArrow">
            <a:avLst/>
          </a:prstGeom>
          <a:solidFill>
            <a:srgbClr val="B9D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2184400" y="5257800"/>
            <a:ext cx="1422400" cy="381000"/>
          </a:xfrm>
          <a:prstGeom prst="roundRect">
            <a:avLst>
              <a:gd name="adj" fmla="val 18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0E2E5C"/>
                </a:solidFill>
                <a:latin typeface="微软雅黑"/>
                <a:ea typeface="微软雅黑"/>
              </a:rPr>
              <a:t>JWT 过滤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3619500" y="5359400"/>
            <a:ext cx="114300" cy="177800"/>
          </a:xfrm>
          <a:prstGeom prst="rightArrow">
            <a:avLst/>
          </a:prstGeom>
          <a:solidFill>
            <a:srgbClr val="B9D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759200" y="5257800"/>
            <a:ext cx="1422400" cy="381000"/>
          </a:xfrm>
          <a:prstGeom prst="roundRect">
            <a:avLst>
              <a:gd name="adj" fmla="val 18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0E2E5C"/>
                </a:solidFill>
                <a:latin typeface="微软雅黑"/>
                <a:ea typeface="微软雅黑"/>
              </a:rPr>
              <a:t>@PreAuthorize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5194300" y="5359400"/>
            <a:ext cx="114300" cy="177800"/>
          </a:xfrm>
          <a:prstGeom prst="rightArrow">
            <a:avLst/>
          </a:prstGeom>
          <a:solidFill>
            <a:srgbClr val="B9D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334000" y="5257800"/>
            <a:ext cx="1422400" cy="381000"/>
          </a:xfrm>
          <a:prstGeom prst="roundRect">
            <a:avLst>
              <a:gd name="adj" fmla="val 18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0E2E5C"/>
                </a:solidFill>
                <a:latin typeface="微软雅黑"/>
                <a:ea typeface="微软雅黑"/>
              </a:rPr>
              <a:t>Controller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6769100" y="5359400"/>
            <a:ext cx="114300" cy="177800"/>
          </a:xfrm>
          <a:prstGeom prst="rightArrow">
            <a:avLst/>
          </a:prstGeom>
          <a:solidFill>
            <a:srgbClr val="B9D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908800" y="5257800"/>
            <a:ext cx="1422400" cy="381000"/>
          </a:xfrm>
          <a:prstGeom prst="roundRect">
            <a:avLst>
              <a:gd name="adj" fmla="val 18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0E2E5C"/>
                </a:solidFill>
                <a:latin typeface="微软雅黑"/>
                <a:ea typeface="微软雅黑"/>
              </a:rPr>
              <a:t>Service（校验/事务）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8343900" y="5359400"/>
            <a:ext cx="114300" cy="177800"/>
          </a:xfrm>
          <a:prstGeom prst="rightArrow">
            <a:avLst/>
          </a:prstGeom>
          <a:solidFill>
            <a:srgbClr val="B9D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483600" y="5257800"/>
            <a:ext cx="1422400" cy="381000"/>
          </a:xfrm>
          <a:prstGeom prst="roundRect">
            <a:avLst>
              <a:gd name="adj" fmla="val 18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0E2E5C"/>
                </a:solidFill>
                <a:latin typeface="微软雅黑"/>
                <a:ea typeface="微软雅黑"/>
              </a:rPr>
              <a:t>Mapper（注解 SQL）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9918700" y="5359400"/>
            <a:ext cx="114300" cy="177800"/>
          </a:xfrm>
          <a:prstGeom prst="rightArrow">
            <a:avLst/>
          </a:prstGeom>
          <a:solidFill>
            <a:srgbClr val="B9D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0058400" y="5257800"/>
            <a:ext cx="1422400" cy="381000"/>
          </a:xfrm>
          <a:prstGeom prst="roundRect">
            <a:avLst>
              <a:gd name="adj" fmla="val 18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0E2E5C"/>
                </a:solidFill>
                <a:latin typeface="微软雅黑"/>
                <a:ea typeface="微软雅黑"/>
              </a:rPr>
              <a:t>MySQL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762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E7BD6"/>
                </a:solidFill>
                <a:latin typeface="微软雅黑"/>
                <a:ea typeface="微软雅黑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016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0E2E5C"/>
                </a:solidFill>
                <a:latin typeface="微软雅黑"/>
                <a:ea typeface="微软雅黑"/>
              </a:rPr>
              <a:t>怎么证明它对：三层验证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066800"/>
            <a:ext cx="558800" cy="381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8400" y="1084580"/>
            <a:ext cx="10414000" cy="10160"/>
          </a:xfrm>
          <a:prstGeom prst="rect">
            <a:avLst/>
          </a:prstGeom>
          <a:solidFill>
            <a:srgbClr val="D8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02400"/>
            <a:ext cx="5334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B7F"/>
                </a:solidFill>
                <a:latin typeface="微软雅黑"/>
                <a:ea typeface="微软雅黑"/>
              </a:rPr>
              <a:t>海岚 ERP · 服装制造企业资源计划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02400"/>
            <a:ext cx="381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E7BD6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1320800"/>
            <a:ext cx="3556000" cy="1219200"/>
          </a:xfrm>
          <a:prstGeom prst="roundRect">
            <a:avLst>
              <a:gd name="adj" fmla="val 10000"/>
            </a:avLst>
          </a:prstGeom>
          <a:solidFill>
            <a:srgbClr val="F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1473200"/>
            <a:ext cx="8890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B4F9C"/>
                </a:solidFill>
                <a:latin typeface="微软雅黑"/>
                <a:ea typeface="微软雅黑"/>
              </a:rPr>
              <a:t>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8000" y="1549400"/>
            <a:ext cx="2159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E2E5C"/>
                </a:solidFill>
                <a:latin typeface="微软雅黑"/>
                <a:ea typeface="微软雅黑"/>
              </a:rPr>
              <a:t>项 SQL 自检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78000" y="1828800"/>
            <a:ext cx="2159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库存双向对账、单据链路、权限完整度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8000" y="1320800"/>
            <a:ext cx="3556000" cy="1219200"/>
          </a:xfrm>
          <a:prstGeom prst="roundRect">
            <a:avLst>
              <a:gd name="adj" fmla="val 10000"/>
            </a:avLst>
          </a:prstGeom>
          <a:solidFill>
            <a:srgbClr val="F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6600" y="1473200"/>
            <a:ext cx="8890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B4F9C"/>
                </a:solidFill>
                <a:latin typeface="微软雅黑"/>
                <a:ea typeface="微软雅黑"/>
              </a:rPr>
              <a:t>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549400"/>
            <a:ext cx="2159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E2E5C"/>
                </a:solidFill>
                <a:latin typeface="微软雅黑"/>
                <a:ea typeface="微软雅黑"/>
              </a:rPr>
              <a:t>个单元测试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828800"/>
            <a:ext cx="2159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6 个测试类，含权限护栏反射扫描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6400" y="1320800"/>
            <a:ext cx="3556000" cy="1219200"/>
          </a:xfrm>
          <a:prstGeom prst="roundRect">
            <a:avLst>
              <a:gd name="adj" fmla="val 10000"/>
            </a:avLst>
          </a:prstGeom>
          <a:solidFill>
            <a:srgbClr val="F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5000" y="1473200"/>
            <a:ext cx="8890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B4F9C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4800" y="1549400"/>
            <a:ext cx="2159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E2E5C"/>
                </a:solidFill>
                <a:latin typeface="微软雅黑"/>
                <a:ea typeface="微软雅黑"/>
              </a:rPr>
              <a:t>个账号验收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4800" y="1828800"/>
            <a:ext cx="2159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按岗位逐个登录，检查菜单与 403 边界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2743200"/>
            <a:ext cx="508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2E7BD6"/>
                </a:solidFill>
                <a:latin typeface="微软雅黑"/>
                <a:ea typeface="微软雅黑"/>
              </a:rPr>
              <a:t>自检里最能说明问题的一项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600" y="3022600"/>
            <a:ext cx="5334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9D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200" y="3175000"/>
            <a:ext cx="4876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库存双向对账：把 st_inventory 的结存与 st_stock_txn 的流水，按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（物料类型 + 物料 + 批次 + 仓库）四元组分别求和比较。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只查一个方向会漏掉「有流水却没有结存行」；双向比对才能发现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幽灵出入库。这一项跑不过，说明业务动作有绕过流水的地方。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9200" y="2743200"/>
            <a:ext cx="254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2E7BD6"/>
                </a:solidFill>
                <a:latin typeface="微软雅黑"/>
                <a:ea typeface="微软雅黑"/>
              </a:rPr>
              <a:t>三条已知不足（主动讲）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9200" y="3022600"/>
            <a:ext cx="5283200" cy="482600"/>
          </a:xfrm>
          <a:prstGeom prst="roundRect">
            <a:avLst>
              <a:gd name="adj" fmla="val 12000"/>
            </a:avLst>
          </a:prstGeom>
          <a:solidFill>
            <a:srgbClr val="F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7000" y="3086100"/>
            <a:ext cx="1905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B4F9C"/>
                </a:solidFill>
                <a:latin typeface="微软雅黑"/>
                <a:ea typeface="微软雅黑"/>
              </a:rPr>
              <a:t>没有工作流引擎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0" y="3289300"/>
            <a:ext cx="495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B7F"/>
                </a:solidFill>
                <a:latin typeface="微软雅黑"/>
                <a:ea typeface="微软雅黑"/>
              </a:rPr>
              <a:t>审批只有通过/驳回，没有多级会签与条件分支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9200" y="3581400"/>
            <a:ext cx="5283200" cy="482600"/>
          </a:xfrm>
          <a:prstGeom prst="roundRect">
            <a:avLst>
              <a:gd name="adj" fmla="val 12000"/>
            </a:avLst>
          </a:prstGeom>
          <a:solidFill>
            <a:srgbClr val="F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7000" y="3644900"/>
            <a:ext cx="1905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B4F9C"/>
                </a:solidFill>
                <a:latin typeface="微软雅黑"/>
                <a:ea typeface="微软雅黑"/>
              </a:rPr>
              <a:t>报工没有复核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0" y="3848100"/>
            <a:ext cx="495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B7F"/>
                </a:solidFill>
                <a:latin typeface="微软雅黑"/>
                <a:ea typeface="微软雅黑"/>
              </a:rPr>
              <a:t>报工直接生成计件，缺少班长或质检确认环节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99200" y="4140200"/>
            <a:ext cx="5283200" cy="482600"/>
          </a:xfrm>
          <a:prstGeom prst="roundRect">
            <a:avLst>
              <a:gd name="adj" fmla="val 12000"/>
            </a:avLst>
          </a:prstGeom>
          <a:solidFill>
            <a:srgbClr val="F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7000" y="4203700"/>
            <a:ext cx="1905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B4F9C"/>
                </a:solidFill>
                <a:latin typeface="微软雅黑"/>
                <a:ea typeface="微软雅黑"/>
              </a:rPr>
              <a:t>没有 CI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0" y="4406900"/>
            <a:ext cx="495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B7F"/>
                </a:solidFill>
                <a:latin typeface="微软雅黑"/>
                <a:ea typeface="微软雅黑"/>
              </a:rPr>
              <a:t>32 个用例与 60 项自检是本地手工跑，未接入流水线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4876800"/>
            <a:ext cx="109728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补充：前端 npm run build 含 vue-tsc 类型检查，类型不过不出包；后端 mvn test 通过；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微软雅黑"/>
                <a:ea typeface="微软雅黑"/>
              </a:rPr>
              <a:t>演示库的 4 个自检脚本可重复执行，每次改完数据都能跑一遍确认账还对得上。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9600" y="5537200"/>
            <a:ext cx="10972800" cy="635000"/>
          </a:xfrm>
          <a:prstGeom prst="roundRect">
            <a:avLst>
              <a:gd name="adj" fmla="val 12000"/>
            </a:avLst>
          </a:prstGeom>
          <a:solidFill>
            <a:srgbClr val="F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9600" y="5537200"/>
            <a:ext cx="38100" cy="6350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8200" y="5689600"/>
            <a:ext cx="10541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>
                <a:solidFill>
                  <a:srgbClr val="0E2E5C"/>
                </a:solidFill>
                <a:latin typeface="微软雅黑"/>
                <a:ea typeface="微软雅黑"/>
              </a:rPr>
              <a:t>结论：三层验证构成「改完还能对账」的最小保障；目前缺的是自动化流水线和报工复核环节。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600"/>
            <a:ext cx="12192000" cy="2946400"/>
          </a:xfrm>
          <a:prstGeom prst="rect">
            <a:avLst/>
          </a:prstGeom>
          <a:solidFill>
            <a:srgbClr val="F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48000"/>
            <a:ext cx="12192000" cy="381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889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E7BD6"/>
                </a:solidFill>
                <a:latin typeface="微软雅黑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19200"/>
            <a:ext cx="96520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0E2E5C"/>
                </a:solidFill>
                <a:latin typeface="微软雅黑"/>
                <a:ea typeface="微软雅黑"/>
              </a:rPr>
              <a:t>谢谢，请老师提问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006600"/>
            <a:ext cx="96520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1B4F9C"/>
                </a:solidFill>
                <a:latin typeface="微软雅黑"/>
                <a:ea typeface="微软雅黑"/>
              </a:rPr>
              <a:t>现场可演示：报价转订单 · 分批发货 · 财务页两种角色对比 · 业务问答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454400"/>
            <a:ext cx="114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E7BD6"/>
                </a:solidFill>
                <a:latin typeface="微软雅黑"/>
                <a:ea typeface="微软雅黑"/>
              </a:rPr>
              <a:t>演示入口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683000"/>
            <a:ext cx="7112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A2433"/>
                </a:solidFill>
                <a:latin typeface="微软雅黑"/>
                <a:ea typeface="微软雅黑"/>
              </a:rPr>
              <a:t>http://127.0.0.1:5173　账号 admin / sales / finance / boss　密码 Demo@2026!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4013200"/>
            <a:ext cx="7112000" cy="10160"/>
          </a:xfrm>
          <a:prstGeom prst="rect">
            <a:avLst/>
          </a:prstGeom>
          <a:solidFill>
            <a:srgbClr val="D8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4216400"/>
            <a:ext cx="114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E7BD6"/>
                </a:solidFill>
                <a:latin typeface="微软雅黑"/>
                <a:ea typeface="微软雅黑"/>
              </a:rPr>
              <a:t>两条对比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445000"/>
            <a:ext cx="7112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A2433"/>
                </a:solidFill>
                <a:latin typeface="微软雅黑"/>
                <a:ea typeface="微软雅黑"/>
              </a:rPr>
              <a:t>同一个财务页：finance 能登记收付款，boss 只能查看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4775200"/>
            <a:ext cx="7112000" cy="10160"/>
          </a:xfrm>
          <a:prstGeom prst="rect">
            <a:avLst/>
          </a:prstGeom>
          <a:solidFill>
            <a:srgbClr val="D8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4978400"/>
            <a:ext cx="114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E7BD6"/>
                </a:solidFill>
                <a:latin typeface="微软雅黑"/>
                <a:ea typeface="微软雅黑"/>
              </a:rPr>
              <a:t>如果要看代码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207000"/>
            <a:ext cx="7112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A2433"/>
                </a:solidFill>
                <a:latin typeface="微软雅黑"/>
                <a:ea typeface="微软雅黑"/>
              </a:rPr>
              <a:t>ErpOrderService（状态机）· ErpStockMapper（防超卖）· api/catalog.ts（配置驱动）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5537200"/>
            <a:ext cx="7112000" cy="10160"/>
          </a:xfrm>
          <a:prstGeom prst="rect">
            <a:avLst/>
          </a:prstGeom>
          <a:solidFill>
            <a:srgbClr val="D8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3403600"/>
            <a:ext cx="3352800" cy="241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9D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3556000"/>
            <a:ext cx="2921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B4F9C"/>
                </a:solidFill>
                <a:latin typeface="微软雅黑"/>
                <a:ea typeface="微软雅黑"/>
              </a:rPr>
              <a:t>答辩材料在哪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3949700"/>
            <a:ext cx="50800" cy="508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10600" y="3886200"/>
            <a:ext cx="2794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docs/答辩手册/00-总讲稿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200" y="4305300"/>
            <a:ext cx="50800" cy="508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10600" y="4241800"/>
            <a:ext cx="2794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docs/答辩手册/01-后端篇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58200" y="4660900"/>
            <a:ext cx="50800" cy="508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10600" y="4597400"/>
            <a:ext cx="2794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docs/答辩手册/02-前端篇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58200" y="5016500"/>
            <a:ext cx="50800" cy="50800"/>
          </a:xfrm>
          <a:prstGeom prst="rect">
            <a:avLst/>
          </a:prstGeom>
          <a:solidFill>
            <a:srgbClr val="2E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10600" y="4953000"/>
            <a:ext cx="2794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docs/答辩手册/03-问答速查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5334000"/>
            <a:ext cx="29210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B7F"/>
                </a:solidFill>
                <a:latin typeface="微软雅黑"/>
                <a:ea typeface="微软雅黑"/>
              </a:rPr>
              <a:t>每份都带口播稿与代码位置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6223000"/>
            <a:ext cx="1016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微软雅黑"/>
                <a:ea typeface="微软雅黑"/>
              </a:rPr>
              <a:t>海岚 ERP · 服装制造企业资源计划 · 2026.10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