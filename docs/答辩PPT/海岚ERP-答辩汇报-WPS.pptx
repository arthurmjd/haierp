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开场</a:t>
            </a:r>
            <a:r>
              <a:rPr lang="en-US" altLang="zh-CN"/>
              <a:t> 20 </a:t>
            </a:r>
            <a:r>
              <a:rPr lang="zh-CN" altLang="en-US"/>
              <a:t>秒：我们做的是服装制造企业的</a:t>
            </a:r>
            <a:r>
              <a:rPr lang="en-US" altLang="zh-CN"/>
              <a:t> ERP</a:t>
            </a:r>
            <a:r>
              <a:rPr lang="zh-CN" altLang="en-US"/>
              <a:t>，覆盖报价、订单、采购、生产、库存、出货、应收收款到标准成本结算的整条链路。今天按「业务怎么转、系统怎么接、数据怎么对」三条线讲。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这一页给规模和定位。数字都实测过，老师追问可以当场</a:t>
            </a:r>
            <a:r>
              <a:rPr lang="en-US" altLang="zh-CN"/>
              <a:t> find/wc </a:t>
            </a:r>
            <a:r>
              <a:rPr lang="zh-CN" altLang="en-US"/>
              <a:t>验证。重点强调：九个域不是九个模块菜单，是一条链路上的九个环节。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全场最重要的一页，讲</a:t>
            </a:r>
            <a:r>
              <a:rPr lang="en-US" altLang="zh-CN"/>
              <a:t> 90 </a:t>
            </a:r>
            <a:r>
              <a:rPr lang="zh-CN" altLang="en-US"/>
              <a:t>秒。五个阶段不是五个模块，是一条链路的五个环节：接单决定能不能做，采购决定料有没有，生产决定做出来没有，交付决定钱回没回来，核算决定下一单报多少。底部三条纪律是整套系统的设计前提。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接单段两个关键点：报价转订单只能一次（防止一张报价下两次单）；草稿不计在途，否则下了单还没到货就会重复采购。收货强调流水只增不改，这是后面能对账的基础。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生产段核心是「冻结」：工单建单时把色码计划量、</a:t>
            </a:r>
            <a:r>
              <a:rPr lang="en-US" altLang="zh-CN"/>
              <a:t>BOM </a:t>
            </a:r>
            <a:r>
              <a:rPr lang="zh-CN" altLang="en-US"/>
              <a:t>用量、工序工价抄一份到工单里，之后改主数据不影响在产工单，成本也能复算。报工的四道约束是服务端校验，不是前端提示。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交付段最容易被问的是「发齐」和「完成」的区别，以及成本口径。应收是发货那一刻自动生成的；成本是标准成本快照，改价不影响历史。最后那句「一个事务」是加分点。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这一页把三个技术点翻译成业务语言。如果老师问并发怎么处理，从第</a:t>
            </a:r>
            <a:r>
              <a:rPr lang="en-US" altLang="zh-CN"/>
              <a:t> 2 </a:t>
            </a:r>
            <a:r>
              <a:rPr lang="zh-CN" altLang="en-US"/>
              <a:t>条展开：条件更新</a:t>
            </a:r>
            <a:r>
              <a:rPr lang="en-US" altLang="zh-CN"/>
              <a:t> + </a:t>
            </a:r>
            <a:r>
              <a:rPr lang="zh-CN" altLang="en-US"/>
              <a:t>请求键表</a:t>
            </a:r>
            <a:r>
              <a:rPr lang="en-US" altLang="zh-CN"/>
              <a:t> + </a:t>
            </a:r>
            <a:r>
              <a:rPr lang="zh-CN" altLang="en-US"/>
              <a:t>行锁。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架构这页不讲细节，讲两件事：分层职责（</a:t>
            </a:r>
            <a:r>
              <a:rPr lang="en-US" altLang="zh-CN"/>
              <a:t>Controller </a:t>
            </a:r>
            <a:r>
              <a:rPr lang="zh-CN" altLang="en-US"/>
              <a:t>只做鉴权和参数边界，业务规则全在</a:t>
            </a:r>
            <a:r>
              <a:rPr lang="en-US" altLang="zh-CN"/>
              <a:t> Service</a:t>
            </a:r>
            <a:r>
              <a:rPr lang="zh-CN" altLang="en-US"/>
              <a:t>），以及业务独立成模块，换前端不影响业务。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验证这页把「我们真的测过」讲清楚。挑库存双向对账讲深一点，它能同时证明「流水驱动」的设计和「自检不是走过场」。不足要主动说。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收尾</a:t>
            </a:r>
            <a:r>
              <a:rPr lang="en-US" altLang="zh-CN"/>
              <a:t> 20 </a:t>
            </a:r>
            <a:r>
              <a:rPr lang="zh-CN" altLang="en-US"/>
              <a:t>秒：项目就到这，三条不足我们也清楚。老师想先看哪一块，我可以直接演示或翻代码。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01600"/>
            <a:ext cx="12192000" cy="3073400"/>
          </a:xfrm>
          <a:prstGeom prst="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175000"/>
            <a:ext cx="12192000" cy="381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2000" y="939800"/>
            <a:ext cx="660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课程答辩</a:t>
            </a:r>
            <a:r>
              <a:rPr lang="en-US" altLang="zh-CN" sz="12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实训项目</a:t>
            </a:r>
            <a:endParaRPr lang="zh-CN" altLang="en-US" sz="12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1270000"/>
            <a:ext cx="787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5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5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</a:t>
            </a:r>
            <a:endParaRPr lang="en-US" altLang="zh-CN" sz="5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2133600"/>
            <a:ext cx="863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7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r>
              <a:rPr lang="en-US" altLang="zh-CN" sz="17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从报价到成本的一条完整链路</a:t>
            </a:r>
            <a:endParaRPr lang="zh-CN" altLang="en-US" sz="17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2616200"/>
            <a:ext cx="863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1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Vue 3 + TypeScript  /  Java 21 + Spring Boot 3.5  /  MySQL 8 + Redis</a:t>
            </a:r>
            <a:endParaRPr lang="en-US" altLang="en-US" sz="11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28000" y="1168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30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altLang="en-US" sz="30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8000" y="1651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步业务主流程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98000" y="1168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30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30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98000" y="1651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个岗位角色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68000" y="1168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30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lang="en-US" altLang="en-US" sz="30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68000" y="1651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项数据自检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000" y="3810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答辩人</a:t>
            </a:r>
            <a:endParaRPr lang="zh-CN" altLang="en-US" sz="900" b="1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40386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（填写姓名）</a:t>
            </a:r>
            <a:endParaRPr lang="zh-CN" altLang="en-US" sz="12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56000" y="3810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altLang="en-US" sz="900" b="1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56000" y="40386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lang="zh-CN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前后端分离</a:t>
            </a:r>
            <a:endParaRPr lang="zh-CN" altLang="en-US" sz="12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50000" y="38100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日期</a:t>
            </a:r>
            <a:endParaRPr lang="zh-CN" altLang="en-US" sz="900" b="1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50000" y="40386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2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2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00" y="4762500"/>
            <a:ext cx="76200" cy="762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90600" y="4673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一条订单跑通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步：报价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出货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应收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lang="zh-CN" altLang="en-US" sz="12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2000" y="5194300"/>
            <a:ext cx="76200" cy="762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90600" y="51054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单据只走动作、库存只认流水、金额只由服务端计算</a:t>
            </a:r>
            <a:endParaRPr lang="zh-CN" altLang="en-US" sz="12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62000" y="5626100"/>
            <a:ext cx="76200" cy="762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90600" y="55372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SQL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自检保证「账能对上」，</a:t>
            </a:r>
            <a:r>
              <a:rPr lang="en-US" altLang="zh-CN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2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个岗位按钮级权限可现场对比</a:t>
            </a:r>
            <a:endParaRPr lang="zh-CN" altLang="en-US" sz="12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PROJECT OVERVIEW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项目定位：一条链、九个域、三件事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21920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13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我们做的不是通用</a:t>
            </a:r>
            <a:r>
              <a:rPr lang="en-US" altLang="zh-CN" sz="13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</a:t>
            </a:r>
            <a:r>
              <a:rPr lang="zh-CN" altLang="en-US" sz="13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，而是服装代工厂的「订单到成本」那一段。</a:t>
            </a:r>
            <a:endParaRPr lang="zh-CN" altLang="en-US" sz="13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157480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5000"/>
              </a:lnSpc>
            </a:pPr>
            <a:r>
              <a:rPr lang="zh-CN" altLang="en-US" sz="11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上游接客户报价与订单，中间管物料、工单与库存，下游接出货、应收与成本。</a:t>
            </a:r>
            <a:r>
              <a:rPr lang="en-US" altLang="zh-CN" sz="11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1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九个业务域：主数据、销售、采购、生产、库存、出货、成本、人事、财务。</a:t>
            </a:r>
            <a:endParaRPr lang="zh-CN" altLang="en-US" sz="11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2870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解决三个具体问题</a:t>
            </a:r>
            <a:endParaRPr lang="zh-CN" altLang="en-US" sz="11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9600" y="3175000"/>
            <a:ext cx="5461000" cy="635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2000" y="32766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订单与物料脱节</a:t>
            </a:r>
            <a:endParaRPr lang="zh-CN" altLang="en-US" sz="11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3505200"/>
            <a:ext cx="51435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接了单不知道缺多少料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净缺料视图按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BOM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算到物料</a:t>
            </a:r>
            <a:endParaRPr lang="zh-CN" altLang="en-US" sz="9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09600" y="3937000"/>
            <a:ext cx="5461000" cy="635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" y="40386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库存账实不符</a:t>
            </a:r>
            <a:endParaRPr lang="zh-CN" altLang="en-US" sz="11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4267200"/>
            <a:ext cx="51435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有台账没流水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全部出入库记流水，结存由流水累加</a:t>
            </a:r>
            <a:endParaRPr lang="zh-CN" altLang="en-US" sz="9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09600" y="4699000"/>
            <a:ext cx="5461000" cy="635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62000" y="48006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成本算不清</a:t>
            </a:r>
            <a:endParaRPr lang="zh-CN" altLang="en-US" sz="11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2000" y="5029200"/>
            <a:ext cx="51435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报价靠拍脑袋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标准成本试算并冻结，可被下一轮报价引用</a:t>
            </a:r>
            <a:endParaRPr lang="zh-CN" altLang="en-US" sz="9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04000" y="1219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一组实数（可现场验证）</a:t>
            </a:r>
            <a:endParaRPr lang="zh-CN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604000" y="15494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604000" y="17272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325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04000" y="21844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Java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382000" y="15494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82000" y="17272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43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82000" y="21844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160000" y="15494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160000" y="17272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260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160000" y="21844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方法级接口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604000" y="27178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604000" y="28956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228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04000" y="33528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生效权限注解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382000" y="27178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382000" y="28956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66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382000" y="33528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数据库表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10160000" y="2717800"/>
            <a:ext cx="1625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160000" y="28956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24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lang="en-US" altLang="en-US" sz="24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0160000" y="33528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自检项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04000" y="38862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个视图、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186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项菜单（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 132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项：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+ 32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+ 99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按钮）、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个岗位、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个部门与</a:t>
            </a:r>
            <a:r>
              <a:rPr lang="en-US" altLang="zh-CN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 </a:t>
            </a:r>
            <a:r>
              <a:rPr lang="zh-CN" altLang="en-US" sz="9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个岗位定义。</a:t>
            </a:r>
            <a:endParaRPr lang="zh-CN" altLang="en-US" sz="9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09600" y="5537200"/>
            <a:ext cx="10972800" cy="6350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609600" y="5537200"/>
            <a:ext cx="38100" cy="6350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38200" y="56896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一句话：我们只做服装代工这一段，但这一段的状态机、动作幂等与库存账实一致，是按能上线的标准做的。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CORE · BUSINESS FLOW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业务主流程：一条订单跑完</a:t>
            </a:r>
            <a:r>
              <a:rPr lang="en-US" altLang="zh-CN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 </a:t>
            </a: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71600"/>
            <a:ext cx="2032000" cy="299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09600" y="1371600"/>
            <a:ext cx="2032000" cy="508000"/>
          </a:xfrm>
          <a:prstGeom prst="round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接单与备料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6585" y="1676400"/>
            <a:ext cx="2017395" cy="203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49300" y="2044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300" y="1981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报价单成交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转订单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9300" y="2603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76300" y="25400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订单确认冻结色码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9300" y="3162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6300" y="30988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净缺料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现存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在途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49300" y="3810000"/>
            <a:ext cx="17526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9300" y="3937000"/>
            <a:ext cx="1752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产出：订单、缺料清单</a:t>
            </a:r>
            <a:endParaRPr lang="zh-CN" altLang="en-US" sz="8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2692400" y="2794000"/>
            <a:ext cx="152400" cy="1651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895600" y="1371600"/>
            <a:ext cx="2032000" cy="299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895600" y="1371600"/>
            <a:ext cx="2032000" cy="508000"/>
          </a:xfrm>
          <a:prstGeom prst="round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采购与到货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220" y="1676400"/>
            <a:ext cx="2016760" cy="203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035300" y="2044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162300" y="1981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采购单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0→1→2→3</a:t>
            </a:r>
            <a:endParaRPr lang="en-US" altLang="zh-CN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35300" y="2603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162300" y="25400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下单即计入在途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35300" y="3162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162300" y="30988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分批收货写入库流水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035300" y="3810000"/>
            <a:ext cx="17526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035300" y="3937000"/>
            <a:ext cx="1752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产出：入库流水、应付</a:t>
            </a:r>
            <a:endParaRPr lang="zh-CN" altLang="en-US" sz="8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右箭头 30"/>
          <p:cNvSpPr/>
          <p:nvPr/>
        </p:nvSpPr>
        <p:spPr>
          <a:xfrm>
            <a:off x="4978400" y="2794000"/>
            <a:ext cx="152400" cy="1651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5181600" y="1371600"/>
            <a:ext cx="2032000" cy="299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5181600" y="1371600"/>
            <a:ext cx="2032000" cy="508000"/>
          </a:xfrm>
          <a:prstGeom prst="round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生产执行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89220" y="1676400"/>
            <a:ext cx="2016760" cy="203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321300" y="2044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448300" y="1981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按订单款式建工单（冻结）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21300" y="2603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448300" y="25400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齐套后领料、按工序报工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21300" y="3162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448300" y="30988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完工按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SKU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321300" y="3810000"/>
            <a:ext cx="17526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321300" y="3937000"/>
            <a:ext cx="1752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产出：工单、计件、成品</a:t>
            </a:r>
            <a:endParaRPr lang="zh-CN" altLang="en-US" sz="8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右箭头 42"/>
          <p:cNvSpPr/>
          <p:nvPr/>
        </p:nvSpPr>
        <p:spPr>
          <a:xfrm>
            <a:off x="7264400" y="2794000"/>
            <a:ext cx="152400" cy="1651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7467600" y="1371600"/>
            <a:ext cx="2032000" cy="299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7467600" y="1371600"/>
            <a:ext cx="2032000" cy="508000"/>
          </a:xfrm>
          <a:prstGeom prst="round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交付与结算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474585" y="1676400"/>
            <a:ext cx="2016760" cy="203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607300" y="2044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34300" y="1981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分批发货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签收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607300" y="2603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734300" y="25400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发货即生成应收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607300" y="3162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734300" y="30988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收款核销、账龄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607300" y="3810000"/>
            <a:ext cx="17526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607300" y="3937000"/>
            <a:ext cx="1752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产出：出货单、应收</a:t>
            </a:r>
            <a:endParaRPr lang="zh-CN" altLang="en-US" sz="8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右箭头 54"/>
          <p:cNvSpPr/>
          <p:nvPr/>
        </p:nvSpPr>
        <p:spPr>
          <a:xfrm>
            <a:off x="9550400" y="2794000"/>
            <a:ext cx="152400" cy="1651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9753600" y="1371600"/>
            <a:ext cx="2032000" cy="299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9753600" y="1371600"/>
            <a:ext cx="2032000" cy="508000"/>
          </a:xfrm>
          <a:prstGeom prst="round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核算与闭环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760585" y="1676400"/>
            <a:ext cx="2016760" cy="203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9893300" y="2044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0020300" y="1981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标准成本试算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893300" y="2603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0020300" y="25400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成本快照可复算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893300" y="3162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10020300" y="30988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生成下一轮报价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9893300" y="3810000"/>
            <a:ext cx="17526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893300" y="3937000"/>
            <a:ext cx="1752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产出：结算单、新报价</a:t>
            </a:r>
            <a:endParaRPr lang="zh-CN" altLang="en-US" sz="8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609600" y="4648200"/>
            <a:ext cx="10972800" cy="685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838200" y="47752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贯穿全流程的三条纪律</a:t>
            </a:r>
            <a:endParaRPr lang="zh-CN" altLang="en-US" sz="10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38200" y="50038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状态只走动作端点（没有「直接改状态」的接口）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库存只认流水，结存由流水累加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金额只由服务端算，前端不参与结算</a:t>
            </a:r>
            <a:endParaRPr lang="zh-CN" altLang="en-US" sz="9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09600" y="5588000"/>
            <a:ext cx="10972800" cy="12700"/>
          </a:xfrm>
          <a:prstGeom prst="rect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701800" y="5549900"/>
            <a:ext cx="25400" cy="889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1066800" y="5715000"/>
            <a:ext cx="127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客户下单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895725" y="5549900"/>
            <a:ext cx="25400" cy="889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3260725" y="5715000"/>
            <a:ext cx="127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物料到位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90920" y="5549900"/>
            <a:ext cx="25400" cy="889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5455920" y="5715000"/>
            <a:ext cx="127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成品入库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285480" y="5549900"/>
            <a:ext cx="25400" cy="889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7650480" y="5715000"/>
            <a:ext cx="127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客户签收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0480040" y="5549900"/>
            <a:ext cx="25400" cy="889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9845040" y="5715000"/>
            <a:ext cx="127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成本确认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STAGE 01—02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接单与备料：从一张报价单到料进仓库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71600"/>
            <a:ext cx="19304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" y="1371600"/>
            <a:ext cx="50800" cy="1066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7400" y="147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报价单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400" y="17780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待确认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已接受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已转单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590800" y="1854200"/>
            <a:ext cx="2032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870200" y="1371600"/>
            <a:ext cx="19304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870200" y="1371600"/>
            <a:ext cx="50800" cy="1066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048000" y="147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销售订单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8000" y="17780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已确认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生产中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851400" y="1854200"/>
            <a:ext cx="2032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5130800" y="1371600"/>
            <a:ext cx="19304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130800" y="1371600"/>
            <a:ext cx="50800" cy="10668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308600" y="147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净缺料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08600" y="17780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BOM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−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已领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现存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−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在途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7112000" y="1854200"/>
            <a:ext cx="2032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391400" y="1371600"/>
            <a:ext cx="19304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391400" y="1371600"/>
            <a:ext cx="50800" cy="1066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569200" y="147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采购单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69200" y="17780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已下单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/3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已到货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/>
          <p:nvPr/>
        </p:nvSpPr>
        <p:spPr>
          <a:xfrm>
            <a:off x="9372600" y="1854200"/>
            <a:ext cx="2032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9652000" y="1371600"/>
            <a:ext cx="19304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9652000" y="1371600"/>
            <a:ext cx="50800" cy="10668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829800" y="147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收货入库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829800" y="1778000"/>
            <a:ext cx="162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写库存流水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结存累加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形成应付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09600" y="2743200"/>
            <a:ext cx="10972800" cy="93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09600" y="2743200"/>
            <a:ext cx="38100" cy="939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38200" y="2870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报价只能转一次</a:t>
            </a:r>
            <a:endParaRPr lang="zh-CN" altLang="en-US" sz="10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38200" y="31242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转单靠「条件更新」：只有已接受的报价能改成已转单，并发下只有一个请求成功；重复转单返回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2006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，整张订单回滚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防止重复生产、重复记账。</a:t>
            </a:r>
            <a:endParaRPr lang="zh-CN" altLang="en-US" sz="9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09600" y="3810000"/>
            <a:ext cx="10972800" cy="93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09600" y="3810000"/>
            <a:ext cx="38100" cy="939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838200" y="39370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草稿不计在途</a:t>
            </a:r>
            <a:endParaRPr lang="zh-CN" altLang="en-US" sz="10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38200" y="41910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采购单确认（或审批通过）那一刻才计入在途；收货后已收数量不再算在途，所以净缺料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已领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现存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在途，不会因为「下了单还没到」而重复采购。</a:t>
            </a:r>
            <a:endParaRPr lang="zh-CN" altLang="en-US" sz="9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09600" y="4876800"/>
            <a:ext cx="10972800" cy="93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609600" y="4876800"/>
            <a:ext cx="38100" cy="939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38200" y="50038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收货即入账</a:t>
            </a:r>
            <a:endParaRPr lang="zh-CN" altLang="en-US" sz="10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38200" y="52578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收货写库存流水（只增不改）、结存同步累加、按收货金额挂应付；若下单时已付款，收货不再重复挂应付</a:t>
            </a:r>
            <a:r>
              <a:rPr lang="en-US" altLang="zh-CN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95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避免同一批料两次计账。</a:t>
            </a:r>
            <a:endParaRPr lang="zh-CN" altLang="en-US" sz="95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STAGE 03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生产执行：工单冻结，领料只认现存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71600"/>
            <a:ext cx="2540000" cy="7366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7400" y="14859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建工单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7400" y="1752600"/>
            <a:ext cx="2260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冻结色码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BOM /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工价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1778000" y="2133600"/>
            <a:ext cx="139700" cy="152400"/>
          </a:xfrm>
          <a:prstGeom prst="down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09600" y="2311400"/>
            <a:ext cx="2540000" cy="7366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7400" y="24257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领料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7400" y="2692400"/>
            <a:ext cx="2260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扣库存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领料流水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1778000" y="3073400"/>
            <a:ext cx="139700" cy="152400"/>
          </a:xfrm>
          <a:prstGeom prst="down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609600" y="3251200"/>
            <a:ext cx="2540000" cy="7366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87400" y="33655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报工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7400" y="3632200"/>
            <a:ext cx="2260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SKU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记合格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不良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1778000" y="4013200"/>
            <a:ext cx="139700" cy="152400"/>
          </a:xfrm>
          <a:prstGeom prst="down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09600" y="4191000"/>
            <a:ext cx="2540000" cy="7366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7400" y="43053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完工</a:t>
            </a:r>
            <a:endParaRPr lang="zh-CN" altLang="en-US" sz="12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7400" y="4572000"/>
            <a:ext cx="2260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SKU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入成品库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57600" y="12700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报工的四道约束（都在服务端校验）</a:t>
            </a:r>
            <a:endParaRPr lang="zh-CN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657600" y="1549400"/>
            <a:ext cx="78740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657600" y="1549400"/>
            <a:ext cx="38100" cy="6604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860800" y="16510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不超过计划量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60800" y="1879600"/>
            <a:ext cx="749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SKU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同一工序，累计合格数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工单冻结的计划量</a:t>
            </a:r>
            <a:endParaRPr lang="zh-CN" altLang="en-US" sz="8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3657600" y="2311400"/>
            <a:ext cx="78740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657600" y="2311400"/>
            <a:ext cx="38100" cy="6604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860800" y="24130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不超过前道工序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860800" y="2641600"/>
            <a:ext cx="749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本工序累计合格数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前一道工序的累计合格数（不能凭空多出来）</a:t>
            </a:r>
            <a:endParaRPr lang="zh-CN" altLang="en-US" sz="8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657600" y="3073400"/>
            <a:ext cx="78740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657600" y="3073400"/>
            <a:ext cx="38100" cy="6604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860800" y="31750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不超工资期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860800" y="3403600"/>
            <a:ext cx="749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报工日期所属月份工资单已确认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拒绝补录，要先作废工资单</a:t>
            </a:r>
            <a:endParaRPr lang="zh-CN" altLang="en-US" sz="8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657600" y="3835400"/>
            <a:ext cx="78740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657600" y="3835400"/>
            <a:ext cx="38100" cy="6604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860800" y="39370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外发不计件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60800" y="4165600"/>
            <a:ext cx="749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委外工序只记成本，不生成员工计件；内部报工才按「合格数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工价快照」</a:t>
            </a:r>
            <a:endParaRPr lang="zh-CN" altLang="en-US" sz="8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09600" y="5080000"/>
            <a:ext cx="10972800" cy="10922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38200" y="52324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两个容易被忽略的边界</a:t>
            </a:r>
            <a:endParaRPr lang="zh-CN" altLang="en-US" sz="9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38200" y="55118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en-US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领料只认现存库存：采购在途的量只参与缺料计算，不能拿来领料，否则账上会出现负数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·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完工入库不超过末道工序累计合格数：没做完的工序不能提前入库，防止「工单说完工、库存却没有」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STAGE 04—05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交付与结算：发货即开票，成本是快照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71600"/>
            <a:ext cx="20320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7400" y="14986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出货单</a:t>
            </a:r>
            <a:endParaRPr lang="zh-CN" altLang="en-US" sz="11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7400" y="18034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按未发量选批次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0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待发货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1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已发货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2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已签收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2679700" y="1905000"/>
            <a:ext cx="1778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921000" y="1371600"/>
            <a:ext cx="20320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098800" y="14986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应收</a:t>
            </a:r>
            <a:endParaRPr lang="zh-CN" altLang="en-US" sz="11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98800" y="18034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出货量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订单单价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到期日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发货日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客户账期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4991100" y="1905000"/>
            <a:ext cx="1778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5232400" y="1371600"/>
            <a:ext cx="20320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10200" y="14986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收款</a:t>
            </a:r>
            <a:endParaRPr lang="zh-CN" altLang="en-US" sz="11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10200" y="18034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写资金流水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应收余额递减，账龄分档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7302500" y="1905000"/>
            <a:ext cx="1778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543800" y="1371600"/>
            <a:ext cx="20320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721600" y="14986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标准成本</a:t>
            </a:r>
            <a:endParaRPr lang="zh-CN" altLang="en-US" sz="11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21600" y="18034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确认后冻结，不可重算覆盖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9613900" y="1905000"/>
            <a:ext cx="177800" cy="1524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9855200" y="1371600"/>
            <a:ext cx="20320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033000" y="14986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新报价</a:t>
            </a:r>
            <a:endParaRPr lang="zh-CN" altLang="en-US" sz="11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033000" y="1803400"/>
            <a:ext cx="167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引用已确认成本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形成下一轮报价依据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09600" y="2844800"/>
            <a:ext cx="3556000" cy="12192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12800" y="2997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发齐</a:t>
            </a:r>
            <a:r>
              <a:rPr lang="en-US" altLang="zh-CN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 sz="11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2800" y="33020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发齐看累计发货量是否达到订购量；完成看是否所有出货单都签收。两个状态、两个动作。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318000" y="2844800"/>
            <a:ext cx="3556000" cy="12192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521200" y="2997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分批发货</a:t>
            </a:r>
            <a:endParaRPr lang="zh-CN" altLang="en-US" sz="11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521200" y="33020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SKU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批次记录，同一订单可以多次发货；未发齐不进入准交率分母，逾期未发齐单独列。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026400" y="2844800"/>
            <a:ext cx="3556000" cy="12192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229600" y="2997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标准成本</a:t>
            </a:r>
            <a:r>
              <a:rPr lang="en-US" altLang="zh-CN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1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实际成本</a:t>
            </a:r>
            <a:endParaRPr lang="zh-CN" altLang="en-US" sz="11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229600" y="33020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用冻结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BOM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物料参考价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计划合格量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冻结工价算；退货不冲回已确认成本。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09600" y="4318000"/>
            <a:ext cx="109728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38200" y="44450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资金闭环（财务页</a:t>
            </a:r>
            <a:r>
              <a:rPr lang="en-US" altLang="zh-CN" sz="10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0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个标签）</a:t>
            </a:r>
            <a:endParaRPr lang="zh-CN" altLang="en-US" sz="10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382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总览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1590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4798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资金流水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8006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月度现金流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61214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应收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74422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应付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630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账龄汇总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10083800" y="4749800"/>
            <a:ext cx="1219200" cy="355600"/>
          </a:xfrm>
          <a:prstGeom prst="roundRect">
            <a:avLst/>
          </a:prstGeom>
          <a:solidFill>
            <a:srgbClr val="F4F8FE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收付款</a:t>
            </a:r>
            <a:endParaRPr lang="zh-CN" altLang="en-US" sz="9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9600" y="5486400"/>
            <a:ext cx="10972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发货是一个事务：校验期间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校验状态与未发量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扣库存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写出库流水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改出货状态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改订单状态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生成应收。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任何一步失败全部回滚，所以不会出现「货发了、应收没生成」。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DESIGN PRINCIPLES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三条贯穿全系统的纪律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20800"/>
            <a:ext cx="3556000" cy="347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" y="1320800"/>
            <a:ext cx="3556000" cy="584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8200" y="1447800"/>
            <a:ext cx="508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600" b="1">
                <a:solidFill>
                  <a:srgbClr val="B9D1F2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B9D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473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状态只走动作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8200" y="2032000"/>
            <a:ext cx="3124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做法：不给「直接改状态」的接口，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每个动作的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SQL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自带前置状态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效果：并发下只有一个请求能改成功，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其余按失败回滚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现场可查：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ErpOrderService.confirm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 … WHERE status=0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被追问「能直接改库吗」：能改，但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改库等于绕过动作，自检第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28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项会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FAIL</a:t>
            </a:r>
            <a:endParaRPr lang="en-US" altLang="zh-CN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18000" y="1320800"/>
            <a:ext cx="3556000" cy="347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318000" y="1320800"/>
            <a:ext cx="3556000" cy="584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46600" y="1447800"/>
            <a:ext cx="508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600" b="1">
                <a:solidFill>
                  <a:srgbClr val="B9D1F2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B9D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80000" y="1473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动作幂等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46600" y="2032000"/>
            <a:ext cx="3124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做法：请求键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参数摘要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状态位，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统一落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biz_action_request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效果：同键重复提交只入账一次；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同键换参数报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2007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；换键正常执行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现场可查：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ErpStockService.begin
ErpStockMapper.reserveAction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被追问「键谁生成」：前端每次动作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UUID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，网络重试复用同一个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026400" y="1320800"/>
            <a:ext cx="3556000" cy="34798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026400" y="1320800"/>
            <a:ext cx="3556000" cy="5842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55000" y="1447800"/>
            <a:ext cx="508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600" b="1">
                <a:solidFill>
                  <a:srgbClr val="B9D1F2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B9D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788400" y="1473200"/>
            <a:ext cx="254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账实可对账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255000" y="2032000"/>
            <a:ext cx="3124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做法：结存由流水累加，按「物料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仓库」四元组双向比对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效果：幽灵出入库跑一次自检就暴露，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不用人工翻账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现场可查：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sql/self_check.sql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（库存双向对账）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被追问「怎么发现的」：演示库曾有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已签收出货单没有出库流水，就是对出来的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09600" y="5384800"/>
            <a:ext cx="10972800" cy="736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38200" y="55118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为什么先讲这三条</a:t>
            </a:r>
            <a:endParaRPr lang="zh-CN" altLang="en-US" sz="9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8200" y="57404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</a:rPr>
              <a:t>因为业务链路会变（加节点、改规则），但这三条是地基：状态不乱、动作不重、账能对上。后面的技术架构与权限设计都是为它们服务的。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技术架构：分层清楚，业务独立成模块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20800"/>
            <a:ext cx="71120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" y="1320800"/>
            <a:ext cx="787400" cy="1066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9600" y="1701800"/>
            <a:ext cx="787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0200" y="14732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Vue 3 + TypeScript + Vite + Element Plus</a:t>
            </a:r>
            <a:endParaRPr lang="en-US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00200" y="17780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个页面（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个手写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配置驱动）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26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条路由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按钮级权限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4064000" y="2413000"/>
            <a:ext cx="177800" cy="177800"/>
          </a:xfrm>
          <a:prstGeom prst="down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09600" y="2540000"/>
            <a:ext cx="71120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9600" y="2540000"/>
            <a:ext cx="787400" cy="10668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9600" y="2921000"/>
            <a:ext cx="787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00200" y="26924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Java 21 + Spring Boot 3.5 + MyBatis + Spring Security/JWT</a:t>
            </a:r>
            <a:endParaRPr lang="en-US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00200" y="29972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个控制器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260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个接口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228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处权限注解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51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个事务方法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4064000" y="3632200"/>
            <a:ext cx="177800" cy="177800"/>
          </a:xfrm>
          <a:prstGeom prst="down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09600" y="3759200"/>
            <a:ext cx="7112000" cy="106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F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09600" y="3759200"/>
            <a:ext cx="787400" cy="1066800"/>
          </a:xfrm>
          <a:prstGeom prst="rect">
            <a:avLst/>
          </a:prstGeom>
          <a:solidFill>
            <a:srgbClr val="0E2E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09600" y="4140200"/>
            <a:ext cx="787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00200" y="39116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8</a:t>
            </a: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 </a:t>
            </a: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张表</a:t>
            </a:r>
            <a:r>
              <a:rPr lang="en-US" altLang="zh-CN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9 </a:t>
            </a: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个视图）</a:t>
            </a:r>
            <a:r>
              <a:rPr lang="en-US" altLang="zh-CN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Redis</a:t>
            </a: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（登录态、</a:t>
            </a:r>
            <a:r>
              <a:rPr lang="en-US" altLang="zh-CN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限流）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00200" y="42164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库存流水只增不改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结存由流水累加</a:t>
            </a:r>
            <a:r>
              <a:rPr lang="en-US" altLang="zh-CN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视图统一口径</a:t>
            </a:r>
            <a:endParaRPr lang="zh-CN" altLang="en-US" sz="9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77200" y="13208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r>
              <a:rPr lang="en-US" altLang="zh-CN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Maven </a:t>
            </a:r>
            <a:r>
              <a:rPr lang="zh-CN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077200" y="15748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229600" y="16383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ruoyi-common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29600" y="18288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公共库：统一响应、异常、工具</a:t>
            </a:r>
            <a:endParaRPr lang="zh-CN" altLang="en-US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8077200" y="21336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229600" y="21971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ruoyi-framework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29600" y="23876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安全骨架：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、权限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Bean</a:t>
            </a:r>
            <a:endParaRPr lang="en-US" altLang="zh-CN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8077200" y="26924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229600" y="27559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ruoyi-quartz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229600" y="29464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定时任务（默认关闭）</a:t>
            </a:r>
            <a:endParaRPr lang="zh-CN" altLang="en-US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077200" y="32512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229600" y="33147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myfactoryai-system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229600" y="3505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单据冻结</a:t>
            </a:r>
            <a:endParaRPr lang="zh-CN" altLang="en-US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077200" y="38100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229600" y="38735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myfactoryai-manufacturing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229600" y="40640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业务域：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 / mapper / domain</a:t>
            </a:r>
            <a:endParaRPr lang="en-US" altLang="zh-CN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8077200" y="4368800"/>
            <a:ext cx="3505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229600" y="44323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8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myfactoryai-admin</a:t>
            </a:r>
            <a:endParaRPr lang="en-US" altLang="en-US" sz="88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229600" y="46228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启动类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r>
              <a:rPr lang="en-US" altLang="zh-CN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AI </a:t>
            </a:r>
            <a:r>
              <a:rPr lang="zh-CN" altLang="en-US" sz="78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lang="zh-CN" altLang="en-US" sz="78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9600" y="4978400"/>
            <a:ext cx="10972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一次请求怎么走（以订单列表为例）</a:t>
            </a:r>
            <a:endParaRPr lang="zh-CN" altLang="en-US" sz="10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096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lang="zh-CN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20447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21844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</a:t>
            </a:r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</a:t>
            </a:r>
            <a:endParaRPr lang="zh-CN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右箭头 47"/>
          <p:cNvSpPr/>
          <p:nvPr/>
        </p:nvSpPr>
        <p:spPr>
          <a:xfrm>
            <a:off x="36195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37592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@PreAuthorize</a:t>
            </a:r>
            <a:endParaRPr lang="en-US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右箭头 49"/>
          <p:cNvSpPr/>
          <p:nvPr/>
        </p:nvSpPr>
        <p:spPr>
          <a:xfrm>
            <a:off x="51943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53340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Controller</a:t>
            </a:r>
            <a:endParaRPr lang="en-US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右箭头 51"/>
          <p:cNvSpPr/>
          <p:nvPr/>
        </p:nvSpPr>
        <p:spPr>
          <a:xfrm>
            <a:off x="67691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69088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</a:t>
            </a:r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（校验</a:t>
            </a:r>
            <a:r>
              <a:rPr lang="en-US" altLang="zh-CN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事务）</a:t>
            </a:r>
            <a:endParaRPr lang="zh-CN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右箭头 53"/>
          <p:cNvSpPr/>
          <p:nvPr/>
        </p:nvSpPr>
        <p:spPr>
          <a:xfrm>
            <a:off x="83439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84836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Mapper</a:t>
            </a:r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（注解</a:t>
            </a:r>
            <a:r>
              <a:rPr lang="en-US" altLang="zh-CN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SQL</a:t>
            </a:r>
            <a:r>
              <a:rPr lang="zh-CN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右箭头 55"/>
          <p:cNvSpPr/>
          <p:nvPr/>
        </p:nvSpPr>
        <p:spPr>
          <a:xfrm>
            <a:off x="9918700" y="5359400"/>
            <a:ext cx="114300" cy="177800"/>
          </a:xfrm>
          <a:prstGeom prst="rightArrow">
            <a:avLst/>
          </a:prstGeom>
          <a:solidFill>
            <a:srgbClr val="B9D1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10058400" y="5257800"/>
            <a:ext cx="1422400" cy="381000"/>
          </a:xfrm>
          <a:prstGeom prst="roundRect">
            <a:avLst/>
          </a:prstGeom>
          <a:solidFill>
            <a:srgbClr val="E8F1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en-US" altLang="en-US" sz="850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lang="en-US" altLang="en-US" sz="850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381000"/>
            <a:ext cx="762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5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VERIFICATION</a:t>
            </a:r>
            <a:endParaRPr lang="en-US" altLang="en-US" sz="105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609600"/>
            <a:ext cx="1041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3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怎么证明它对：三层验证</a:t>
            </a:r>
            <a:endParaRPr lang="zh-CN" altLang="en-US" sz="23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066800"/>
            <a:ext cx="558800" cy="381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8400" y="1084580"/>
            <a:ext cx="10414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6502400"/>
            <a:ext cx="533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6502400"/>
            <a:ext cx="38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US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600" y="1320800"/>
            <a:ext cx="3556000" cy="12192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1473200"/>
            <a:ext cx="88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6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lang="en-US" altLang="en-US" sz="26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78000" y="15494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r>
              <a:rPr lang="en-US" altLang="zh-CN" sz="10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SQL </a:t>
            </a:r>
            <a:r>
              <a:rPr lang="zh-CN" altLang="en-US" sz="10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</a:t>
            </a:r>
            <a:endParaRPr lang="zh-CN" altLang="en-US" sz="10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78000" y="1828800"/>
            <a:ext cx="2184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库存双向对账、单据链路、权限完整度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318000" y="1320800"/>
            <a:ext cx="3556000" cy="12192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546600" y="1473200"/>
            <a:ext cx="88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6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lang="en-US" altLang="en-US" sz="26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86400" y="15494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个单元测试</a:t>
            </a:r>
            <a:endParaRPr lang="zh-CN" altLang="en-US" sz="10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86400" y="1828800"/>
            <a:ext cx="2184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个测试类，含权限护栏反射扫描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026400" y="1320800"/>
            <a:ext cx="3556000" cy="12192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55000" y="1473200"/>
            <a:ext cx="88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6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26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94800" y="1549400"/>
            <a:ext cx="215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5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个账号验收</a:t>
            </a:r>
            <a:endParaRPr lang="zh-CN" altLang="en-US" sz="105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94800" y="1828800"/>
            <a:ext cx="2184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按岗位逐个登录，检查菜单与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403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9600" y="27432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自检里最能说明问题的一项</a:t>
            </a:r>
            <a:endParaRPr lang="zh-CN" altLang="en-US" sz="10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09600" y="3022600"/>
            <a:ext cx="5334000" cy="16510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38200" y="3175000"/>
            <a:ext cx="4902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库存双向对账：把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st_inventory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的结存与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st_stock_txn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的流水，按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（物料类型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物料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仓库）四元组分别求和比较。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只查一个方向会漏掉「有流水却没有结存行」；双向比对才能发现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幽灵出入库。这一项跑不过，说明业务动作有绕过流水的地方。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99200" y="27432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三条已知不足（主动讲）</a:t>
            </a:r>
            <a:endParaRPr lang="zh-CN" altLang="en-US" sz="10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299200" y="3022600"/>
            <a:ext cx="5283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477000" y="3086100"/>
            <a:ext cx="190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没有工作流引擎</a:t>
            </a:r>
            <a:endParaRPr lang="zh-CN" altLang="en-US" sz="9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77000" y="3289300"/>
            <a:ext cx="495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审批只有通过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驳回，没有多级会签与条件分支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299200" y="3581400"/>
            <a:ext cx="5283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477000" y="3644900"/>
            <a:ext cx="190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报工没有复核</a:t>
            </a:r>
            <a:endParaRPr lang="zh-CN" altLang="en-US" sz="9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77000" y="3848100"/>
            <a:ext cx="495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报工直接生成计件，缺少班长或质检确认环节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299200" y="4140200"/>
            <a:ext cx="5283200" cy="4826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477000" y="4203700"/>
            <a:ext cx="190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</a:t>
            </a:r>
            <a:r>
              <a:rPr lang="en-US" altLang="zh-CN" sz="90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</a:t>
            </a:r>
            <a:endParaRPr lang="en-US" altLang="zh-CN" sz="90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77000" y="4406900"/>
            <a:ext cx="495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个用例与</a:t>
            </a:r>
            <a:r>
              <a:rPr lang="en-US" altLang="zh-CN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60 </a:t>
            </a: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项自检是本地手工跑，未接入流水线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9600" y="4876800"/>
            <a:ext cx="10972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5000"/>
              </a:lnSpc>
            </a:pP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补充：前端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npm run build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vue-tsc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类型检查，类型不过不出包；后端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mvn test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通过；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演示库的</a:t>
            </a:r>
            <a:r>
              <a:rPr lang="en-US" altLang="zh-CN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9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个自检脚本可重复执行，每次改完数据都能跑一遍确认账还对得上。</a:t>
            </a:r>
            <a:endParaRPr lang="zh-CN" altLang="en-US" sz="9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09600" y="5537200"/>
            <a:ext cx="10972800" cy="635000"/>
          </a:xfrm>
          <a:prstGeom prst="round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09600" y="5537200"/>
            <a:ext cx="38100" cy="6350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38200" y="56896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结论：三层验证构成「改完还能对账」的最小保障；目前缺的是自动化流水线和报工复核环节。</a:t>
            </a:r>
            <a:endParaRPr lang="zh-CN" altLang="en-US" sz="10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01600"/>
            <a:ext cx="12192000" cy="2946400"/>
          </a:xfrm>
          <a:prstGeom prst="rect">
            <a:avLst/>
          </a:prstGeom>
          <a:solidFill>
            <a:srgbClr val="F4F8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048000"/>
            <a:ext cx="12192000" cy="38100"/>
          </a:xfrm>
          <a:prstGeom prst="rect">
            <a:avLst/>
          </a:prstGeom>
          <a:solidFill>
            <a:srgbClr val="1B4F9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2000" y="889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2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altLang="en-US" sz="12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1219200"/>
            <a:ext cx="965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400" b="1">
                <a:solidFill>
                  <a:srgbClr val="0E2E5C"/>
                </a:solidFill>
                <a:latin typeface="微软雅黑" panose="020B0503020204020204" charset="-122"/>
                <a:ea typeface="微软雅黑" panose="020B0503020204020204" charset="-122"/>
              </a:rPr>
              <a:t>谢谢，请老师提问</a:t>
            </a:r>
            <a:endParaRPr lang="zh-CN" altLang="en-US" sz="3400" b="1">
              <a:solidFill>
                <a:srgbClr val="0E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2006600"/>
            <a:ext cx="965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0000"/>
              </a:lnSpc>
            </a:pPr>
            <a:r>
              <a:rPr lang="zh-CN" altLang="en-US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现场可演示：报价转订单</a:t>
            </a:r>
            <a:r>
              <a:rPr lang="en-US" altLang="zh-CN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分批发货</a:t>
            </a:r>
            <a:r>
              <a:rPr lang="en-US" altLang="zh-CN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财务页两种角色对比</a:t>
            </a:r>
            <a:r>
              <a:rPr lang="en-US" altLang="zh-CN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业务问答</a:t>
            </a:r>
            <a:endParaRPr lang="zh-CN" altLang="en-US" sz="1200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3454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演示入口</a:t>
            </a:r>
            <a:endParaRPr lang="zh-CN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36830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http://127.0.0.1:5173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账号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admin / sales / finance / boss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密码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Demo@2026!</a:t>
            </a:r>
            <a:endParaRPr lang="en-US" altLang="zh-CN" sz="10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2000" y="4013200"/>
            <a:ext cx="7112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2000" y="4216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两条对比</a:t>
            </a:r>
            <a:endParaRPr lang="zh-CN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" y="44450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同一个财务页：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finance 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能登记收付款，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boss 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只能查看</a:t>
            </a:r>
            <a:endParaRPr lang="zh-CN" altLang="en-US" sz="10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2000" y="4775200"/>
            <a:ext cx="7112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62000" y="49784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2E7BD6"/>
                </a:solidFill>
                <a:latin typeface="微软雅黑" panose="020B0503020204020204" charset="-122"/>
                <a:ea typeface="微软雅黑" panose="020B0503020204020204" charset="-122"/>
              </a:rPr>
              <a:t>如果要看代码</a:t>
            </a:r>
            <a:endParaRPr lang="zh-CN" altLang="en-US" sz="900" b="1">
              <a:solidFill>
                <a:srgbClr val="2E7B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000" y="52070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ErpOrderService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（状态机）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ErpStockMapper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（防超卖）</a:t>
            </a:r>
            <a:r>
              <a:rPr lang="en-US" altLang="zh-CN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api/catalog.ts</a:t>
            </a:r>
            <a:r>
              <a:rPr lang="zh-CN" altLang="en-US" sz="1000">
                <a:solidFill>
                  <a:srgbClr val="1A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（配置驱动）</a:t>
            </a:r>
            <a:endParaRPr lang="zh-CN" altLang="en-US" sz="1000">
              <a:solidFill>
                <a:srgbClr val="1A24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2000" y="5537200"/>
            <a:ext cx="7112000" cy="10160"/>
          </a:xfrm>
          <a:prstGeom prst="rect">
            <a:avLst/>
          </a:prstGeom>
          <a:solidFill>
            <a:srgbClr val="D8E4F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229600" y="3403600"/>
            <a:ext cx="3352800" cy="241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9D1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458200" y="3556000"/>
            <a:ext cx="292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答辩材料在哪</a:t>
            </a:r>
            <a:endParaRPr lang="zh-CN" altLang="en-US" sz="9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58200" y="39497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610600" y="3886200"/>
            <a:ext cx="279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docs/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答辩手册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/00-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总讲稿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458200" y="43053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610600" y="4241800"/>
            <a:ext cx="279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docs/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答辩手册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/01-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后端篇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458200" y="46609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610600" y="4597400"/>
            <a:ext cx="279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docs/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答辩手册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/02-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前端篇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58200" y="5016500"/>
            <a:ext cx="50800" cy="50800"/>
          </a:xfrm>
          <a:prstGeom prst="rect">
            <a:avLst/>
          </a:prstGeom>
          <a:solidFill>
            <a:srgbClr val="2E7BD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610600" y="4953000"/>
            <a:ext cx="279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docs/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答辩手册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/03-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问答速查</a:t>
            </a:r>
            <a:endParaRPr lang="zh-CN" altLang="en-US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458200" y="5334000"/>
            <a:ext cx="292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</a:rPr>
              <a:t>每份都带口播稿与代码位置</a:t>
            </a:r>
            <a:endParaRPr lang="zh-CN" altLang="en-US" sz="80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2000" y="6223000"/>
            <a:ext cx="1016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海岚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ERP · </a:t>
            </a:r>
            <a:r>
              <a:rPr lang="zh-CN" altLang="en-US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服装制造企业资源计划</a:t>
            </a:r>
            <a:r>
              <a:rPr lang="en-US" altLang="zh-CN" sz="850">
                <a:solidFill>
                  <a:srgbClr val="5B6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2026.10</a:t>
            </a:r>
            <a:endParaRPr lang="en-US" altLang="zh-CN" sz="850">
              <a:solidFill>
                <a:srgbClr val="5B6B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4379</Words>
  <Application>WPS 演示</Application>
  <PresentationFormat>宽屏</PresentationFormat>
  <Paragraphs>490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dxh50</dc:creator>
  <cp:lastModifiedBy>没人懂得~我</cp:lastModifiedBy>
  <cp:revision>157</cp:revision>
  <dcterms:created xsi:type="dcterms:W3CDTF">2019-06-19T02:08:00Z</dcterms:created>
  <dcterms:modified xsi:type="dcterms:W3CDTF">2026-10-28T08:22:19Z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762237329226419C96E66CC8F65E7AF7_11</vt:lpwstr>
  </property>
</Properties>
</file>